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240b47e8-9670-531d-2542-bf24532c4db2}">
          <p14:sldIdLst>
            <p14:sldId id="257"/>
            <p14:sldId id="258"/>
            <p14:sldId id="259"/>
          </p14:sldIdLst>
        </p14:section>
        <p14:section name="Solution" id="{cc4a89ed-c4cf-2a89-d2fe-5f05e2031e36}">
          <p14:sldIdLst>
            <p14:sldId id="260"/>
            <p14:sldId id="261"/>
            <p14:sldId id="262"/>
            <p14:sldId id="263"/>
          </p14:sldIdLst>
        </p14:section>
        <p14:section name="Evidence" id="{f98d2914-d441-d7ae-28f0-6ab994b3d13d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ardware" id="{bbda42c1-74a8-49b4-f1d4-d077bd4439d4}">
          <p14:sldIdLst>
            <p14:sldId id="271"/>
            <p14:sldId id="272"/>
          </p14:sldIdLst>
        </p14:section>
        <p14:section name="Business" id="{21da1a97-1478-753e-f522-4270a117ab99}">
          <p14:sldIdLst>
            <p14:sldId id="273"/>
            <p14:sldId id="274"/>
          </p14:sldIdLst>
        </p14:section>
        <p14:section name="Plan" id="{6f808649-c7cf-d3cb-869c-ee6354fae959}">
          <p14:sldIdLst>
            <p14:sldId id="275"/>
          </p14:sldIdLst>
        </p14:section>
        <p14:section name="Appendix" id="{0ef398d0-8ad4-40a6-bba6-e4f30048efac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Single-frame search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SceneGap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4</c:v>
                </c:pt>
                <c:pt idx="8">
                  <c:v>1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+ sample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2.07</c:v>
                </c:pt>
                <c:pt idx="1">
                  <c:v>2.08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(CLIP image)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1.01</c:v>
                </c:pt>
                <c:pt idx="1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Openings per year</c:v>
                  </c:pt>
                  <c:pt idx="1">
                    <c:v>Self-employed (35%)</c:v>
                  </c:pt>
                  <c:pt idx="2">
                    <c:v>Editors + camera operators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5600</c:v>
                </c:pt>
                <c:pt idx="1">
                  <c:v>25200</c:v>
                </c:pt>
                <c:pt idx="2">
                  <c:v>72000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Jumper (from, *)</c:v>
                  </c:pt>
                  <c:pt idx="1">
                    <c:v>Frame.io Team</c:v>
                  </c:pt>
                  <c:pt idx="2">
                    <c:v>UGen300 (one-time)</c:v>
                  </c:pt>
                  <c:pt idx="3">
                    <c:v>Final Cut Pro (one-time)</c:v>
                  </c:pt>
                  <c:pt idx="4">
                    <c:v>Resolve Studio (one-time)</c:v>
                  </c:pt>
                  <c:pt idx="5">
                    <c:v>Premiere Pro (*)</c:v>
                  </c:pt>
                  <c:pt idx="6">
                    <c:v>Frame.io Pro</c:v>
                  </c:pt>
                  <c:pt idx="7">
                    <c:v>Apple Creator Studio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588</c:v>
                </c:pt>
                <c:pt idx="1">
                  <c:v>300</c:v>
                </c:pt>
                <c:pt idx="2">
                  <c:v>299.99</c:v>
                </c:pt>
                <c:pt idx="3">
                  <c:v>299.99</c:v>
                </c:pt>
                <c:pt idx="4">
                  <c:v>295</c:v>
                </c:pt>
                <c:pt idx="5">
                  <c:v>276</c:v>
                </c:pt>
                <c:pt idx="6">
                  <c:v>180</c:v>
                </c:pt>
                <c:pt idx="7">
                  <c:v>129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Xf0ZCg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[Team name] · github.com/[team]/scenegap-edge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NT$12,000–28,000 per crew-day in Taiwan, US$800–1,500 per videographer-day in the US, plus café and client again.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B8BA0"/>
                </a:solidFill>
              </a:rPr>
              <a:t>Day rates: PRO360 quote statistics (TW), Film Lifestyle mid-level rates (US);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507215"/>
                <a:gridCol w="1798572"/>
                <a:gridCol w="2158286"/>
                <a:gridCol w="1618715"/>
                <a:gridCol w="1798572"/>
              </a:tblGrid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(LIMITS)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(USD)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 (English-only search)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 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on device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 (open project only)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visual: whole clips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one-time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 (Apple silicon, US English)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or $129/yr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semantic search (Team/Enterprise, beta)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subclip marks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(cloud)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$25/member/mo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Jumper (plug-ins for 4 editors)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offline after setup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from $49/mo*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 (on-premise media asset manager)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on-premise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$2,995–28,995/yr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(upload)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listed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original timecode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length, takes, same frame; a person decides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free; bundle to 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2026-10-26; * vendor price page not readable at access. Sources and verified flags: A11,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12)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Demo: 9 Commons clips (5.9 min) analysed in 22 s on a desktop GPU; new footage re-checked file by file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Automatic missing-shot detection: 0 of 38 caught on test (slide 15)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saved: no user study yet. Proxy: 317 s of candidate clips to play vs 839 s of footage (38%)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1 · Write the shot list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In Chinese, as the crew speaks; a person checks the English search phrase and adds rules. Test list: 11 shots, each with a minimum length; 1 same-frame, 1 two-takes, 1 manual brand check.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614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2 · Index footage locally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Camera cuts, one frame per second on the original timecode, CLIP vectors. Desktop: 2.3 s per minute of video (GPU), 3.1 s (CPU). UGen300 next.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3 · Check each rule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Pass, fail or can't tell per rule; failing clips stay visible. Threshold τ 0.225 set on dev; search over 10,000 segments p95 14 ms.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26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114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4 · A person decides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2114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Accept, reject with a reason, or add to the reshoot list. Only the person's decision counts as done; it is bound to the shot's version.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49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The AI's four answers (a person's decision is stored separately)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1480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  <a:gridCol w="3017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ANSWER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THE 26-CLIP TEST LIBRARY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rule passes on at least one clip; still needs a person to accept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Something matched but a rule failed or can't be decided (too short, one take of two, a manual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(SH-10, manual brand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files; not proof of absence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0; 30 of 38 missing shots still got 'candidate' (slide 15)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failed to decode or are missing, so absence cannot be claimed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110728" cy="4262496"/>
          </a:xfrm>
          <a:prstGeom prst="roundRect">
            <a:avLst>
              <a:gd name="adj" fmla="val 2145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001000" cy="41527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869680" y="1463040"/>
            <a:ext cx="2651760" cy="4251960"/>
          </a:xfrm>
          <a:prstGeom prst="roundRect">
            <a:avLst>
              <a:gd name="adj" fmla="val 482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525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This demo project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052560" y="20116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9 Commons clips, 5.9 min, analysed in 22 s on a desktop GPU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AI candidate: 10 of 11 shots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Accepted by a person: 5 of 11 (SH-11 needs a second take)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Partial: SH-10 (manual brand check)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Reshoot list: grinder, drinking, coffee bag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Decisions entered as a scripted demo review, not timed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(Coverage page, cropped). Columns: shot · AI answer · person's decision · reason · clip.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7730295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ev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620567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63040"/>
            <a:ext cx="2971800" cy="4343400"/>
          </a:xfrm>
          <a:prstGeom prst="roundRect">
            <a:avLst>
              <a:gd name="adj" fmla="val 430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16002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SH-05 on this screen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2011680"/>
            <a:ext cx="2606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Shot 「咖啡倒入杯中或拉花，連續 3 秒」: coffee or latte art poured, 3 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Ranking score 0.314: orders clips, not a probability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Length check 24.0 s ≥ 3 s: how long frames stay close to the query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Log: espresso stream with no cup rejected with a reason; latte-art pour accepted; each can be undone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(clip view, cropped). Original files are never touched.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the reshoot list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5519451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5409723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0" y="1463040"/>
            <a:ext cx="5120640" cy="4343400"/>
          </a:xfrm>
          <a:prstGeom prst="roundRect">
            <a:avLst>
              <a:gd name="adj" fmla="val 2947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What the crew gets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0116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One card per shot: why it is missing, the closest clip, minimum length, how it will be checked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card shows the AI's rules passed; the person decided the clip shows tamping, not grinding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Status: to decide → reshoot → shooting → done / not reshooting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Video demo: the reshot clip was analysed alone in 2.5 s and the grinder shot left the list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In this demo the review stopped at the top 3; the 4th candidate was a valid grinding clip (next page)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(reshoot list, SH-04 card). Export: CSV / HTML.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the model returns: top 5 per shot, checked against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659368" cy="4419251"/>
          </a:xfrm>
          <a:prstGeom prst="roundRect">
            <a:avLst>
              <a:gd name="adj" fmla="val 2069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to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549640" cy="430952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418320" y="1463040"/>
            <a:ext cx="2103120" cy="4389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Read it as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601200" y="2011680"/>
            <a:ext cx="17373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SH-05: right clips are in the list, but #1 is wrong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SH-08: same-frame rule works here (4 of 5)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SH-04: the right clip is 4th; ranking by peak is the fix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SH-07: nothing to find, yet 5 clips pass: why missing shots go undetected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Demo project (9 clips); candidates and scores from the live app; right / wrong from eval/labels/gold.json (≥ 0.5 s overlap). decks/scenegap/fig_top5.py.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the length rule reads the model's scores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84362" cy="4453128"/>
          </a:xfrm>
          <a:prstGeom prst="roundRect">
            <a:avLst>
              <a:gd name="adj" fmla="val 205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74634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60920" y="1463040"/>
            <a:ext cx="4160520" cy="4389120"/>
          </a:xfrm>
          <a:prstGeom prst="roundRect">
            <a:avLst>
              <a:gd name="adj" fmla="val 307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6002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What the curves show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011680"/>
            <a:ext cx="37947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Street frames score about 0.18; the pour about 0.33, well above τ 0.225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SceneGap samples 1 frame per second: a 4 s pour gives 4 samples, a lower bound of 3.0 s, so it passes the 3 s rule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2 s pour gives 1.0 s: too short, correctly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finished latte scores 0.30 with nothing poured: CLIP sees the result, not the action, so a person checks it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Stage II: denser sampling near the edges and an action check for pour-type shots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Rule-check cases cut from real Commons footage (eval/rule_check.py); similarity from the same CLIP model at 4 frames/s. decks/scenegap/fig_curves.py.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actually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long; the lower bound runs about 1 s short (4 s pour → 3.0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 on real footage: 10 of 12 cases right; misses are a finished latte and a re-encoded copy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406501"/>
                <a:gridCol w="989215"/>
                <a:gridCol w="2338143"/>
                <a:gridCol w="1169072"/>
                <a:gridCol w="989215"/>
                <a:gridCol w="719429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RUN (S)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/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continuous 4 s latte-art pour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6 s pour from a different shoot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pour lasts only 2 s (rule: 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two 2 s pours split by another 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finished latte, nothing is poured (5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 at a café table,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but outdoors (not in a café)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then a café interior: separate shots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one barista clip (rule: 2 takes)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copied byte for byte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re-encoded (still one take)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two different barista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SH-05 pour ≥ 3 s · SH-08 two people in a café, same frame, ≥ 2 s · SH-11 barista, 2 takes ≥ 3 s. CLIP sees a finished latte as 'pouring'; takes are told apart by file hash. eval/rule_check.py,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Protocol and the 11 shots committed before any label; threshold set on dev only; test scored once. Every file below is in the repo.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Footage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Wikimedia Commons clips, 25.2 min, H.264 ≤ 1280 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clips, 11.2 min: threshold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clips, 14.0 min: scored once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Distractors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of 44 clips contain none of the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BY-SA 19, CC BY 14, CC0 8, public domain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note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author pair crosses the split (022 dev, 025 test); found after scoring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Labels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Labellers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independent AI sessions on 1 fps sheets; an AI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472/484 clip × shot pairs (97.5%); κ 0.914 over 16,687 frame samples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 disputed frame labels decided with 9 written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Consistency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 of 238 agreed positives removed after labelling (65 were SH-11)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Lenient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restoring them leaves SceneGap unchanged (7/11, 18/55)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0.225: dev F1 0.240, frame precision 14.4%, recall 71.8%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Human-checked labels on the original video are the first Stage II task; details in A5–A7.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RIGHT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 (whole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CI 21–72%)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&lt; 5 returned)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search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CI 43–90%)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SceneGap, ranked after rule checks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CI 35–85%)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474720"/>
            <a:ext cx="5669280" cy="2011680"/>
          </a:xfrm>
          <a:prstGeom prst="roundRect">
            <a:avLst>
              <a:gd name="adj" fmla="val 636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Why one hit was lost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Lost SH-03 and SH-04, gained SH-06.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Clip 019 is the right answer for both. On its own it passes every rule (5 s and 19 s runs): the rules did not reject it.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Runs are ranked by average similarity; single-frame search uses the peak frame. Stage II ranks by peak.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hit needs 0.5 s overlap, so this layer does not test the length rule (slide 12 does).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Correct clips in the top 5, per shot (of 5)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83680" y="182880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14.0 min, scored once at τ 0.225; Wilson 95% intervals. SH-03 and SH-07 each rest on one 3 s gold clip. Per shot: A5.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Finding missing shots automatically does not work yet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Unit: one shot in one simulated 8-clip project (8 × 11 = 88): 38 missing, 50 present. Found = 'candidate'; can't decide = 'partial' or 'unverifiable'.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 split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6035040" cy="914400"/>
        </p:xfrm>
        <a:graphic>
          <a:graphicData uri="http://schemas.openxmlformats.org/drawingml/2006/table">
            <a:tbl>
              <a:tblPr/>
              <a:tblGrid>
                <a:gridCol w="1686261"/>
                <a:gridCol w="1065007"/>
                <a:gridCol w="1153758"/>
                <a:gridCol w="976256"/>
                <a:gridCol w="115375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ASKED, SHOT THERE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CAN'T DECIDE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34/38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22/50 (44%)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0/88 (0.0%)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4/38 (11%)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0/88 (0.0%)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38/38 (100%)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11/88 (12.5%)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30/38 (79%)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3977640"/>
            <a:ext cx="603504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41148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Where the missing shots sit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52628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SH-07 is missing in 8 of 8 projects; SH-03, SH-04, SH-10 in 6, 6, 6.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SceneGap answered 'candidate' for 30 of them and 'partial' for 8 (SH-10's manual brand check).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Why: at τ 0.225 only 14% of frames above the threshold show the shot, so almost every shot finds something.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only, after the test (not used to rescore)</a:t>
            </a:r>
            <a:endParaRPr lang="en-US" sz="13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240280"/>
          <a:ext cx="45720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5156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τ 0.225 (frozen)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τ 0.27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τ 0.29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0.02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0.0475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Stage II target (PRD 21.5): wrong reshoot ≤ 5%. Best dev point inside it today: 18% of missing shots (margin 0.02). Per-shot thresholds next.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Plan: the image half of CLIP on the UGen300; the PC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10528" cy="3176778"/>
          </a:xfrm>
          <a:prstGeom prst="roundRect">
            <a:avLst>
              <a:gd name="adj" fmla="val 28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00800" cy="30670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ASUS UGen300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performance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TOPS INT4 / 20 TOPS INT8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GB LPDDR4, 4266 MT/s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3.1 Gen2 Type-C, 10 Gbps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/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W typical; 105 × 50 × 18 mm, 150 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Windows, Linux, Android (no macOS listed)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USB 8 GB (reported)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 image encoder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at batch 1 / 8 (Hailo zoo,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0080" y="4983480"/>
            <a:ext cx="6400800" cy="868680"/>
          </a:xfrm>
          <a:prstGeom prst="roundRect">
            <a:avLst>
              <a:gd name="adj" fmla="val 1473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51206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</a:rPr>
              <a:t>Frames over USB: about 9 MB per minute of video (estimate) on a 10 Gbps link. Before the device replaces the PC model it must pass six G1 checks against the PC (A1). Demo PC: Windows 11, RTX 4080; on a Mac SceneGap runs on CPU only.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§2 (ASUS spec; price reported by CNX Software), MODEL_PLAN.md §2, §6; Hailo Model Zoo measures over PCIe, not USB.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Decoding is 2.1 of the 2.3 s per minute; the UGen300 would free the GPU or a laptop CPU, not shorten the run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Seconds per minute of video (desktop)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463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Model and search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09728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SPEED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P50 / P95 (10,000 SEGMENTS)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(vendor)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(batch 1 / 8,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0" y="36576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Playing a 1080p30 test pattern while analysing (budget 33.3 ms)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40233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463040"/>
                <a:gridCol w="1554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 FRAMES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WORK P95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ANALYSES FINISHED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model is 32% of the CPU run and 7% of the GPU run. Stage II measures an editing app alone vs with CPU, GPU or UGen300 analysis.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85 s, ≤ 1280 px, warm model; import and hashing not timed), interference.json (synthetic test pattern, not an editing app).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Who pays first: 1–3 person crews and freelance editors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US floor (BLS OOH, 2025)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76072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Segments (PRD 4.1)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 SIGNAL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HOLD TRUE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person crews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11,400 self-employed US camera operators; TW crew-day NT$12,000–28,000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they write a shot list and carry a computer on site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Freelance editors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13,800 self-employed US editors; median $75,420/yr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briefs are specific; a pickup can still be arranged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 teams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check a little by hand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content producers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 of businesses use video (Wyzowl 2026, partial)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 stay stable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4709160"/>
            <a:ext cx="5760720" cy="731520"/>
          </a:xfrm>
          <a:prstGeom prst="roundRect">
            <a:avLst>
              <a:gd name="adj" fmla="val 175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0" y="4846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BLS is a floor: it leaves out YouTubers and in-house marketing staff. Worldwide, ~50M creators and ~4% professional (Goldman Sachs, partly verified).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US BLS OOH accessed 2026-10-26 (39,400 editors + 32,600 camera operators; 35% self-employed; ~5,600 openings a year); self-employed split is our arithmetic. Day rates per videographer.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One avoided reshoot day pays for the bundle 5–10 times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Value = hours saved × hourly cost + reshoot avoided − tool cost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1737360"/>
              </a:tblGrid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USED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Hourly cost, editor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$36.26/h = $75,420 ÷ 2,080 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sourced; 2,080 h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US, 2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$1,600–3,000 = 2 × $800–1,500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 rates; crew of 2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Taiwan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per crew-day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quote statistics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cost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UGen300; core software free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reported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 saved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 (proxy: 38% of footage to play)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study,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Reshoots avoided per project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interviews,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8" name="Image 0" descr="C:\Users\yu9br\AppData\Local\Temp\neo-Xf0ZCg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480560"/>
            <a:ext cx="2377440" cy="5257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editor time pays for the device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77190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11" name="Image 1" descr="C:\Users\yu9br\AppData\Local\Temp\neo-Xf0ZCg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4480560"/>
            <a:ext cx="2377440" cy="5257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0906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one US two-person reshoot day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14630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Price per seat, USD per year or one-time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040880" y="1828800"/>
          <a:ext cx="4480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9"/>
          <p:cNvSpPr/>
          <p:nvPr/>
        </p:nvSpPr>
        <p:spPr>
          <a:xfrm>
            <a:off x="7040880" y="4617720"/>
            <a:ext cx="4480560" cy="822960"/>
          </a:xfrm>
          <a:prstGeom prst="roundRect">
            <a:avLst>
              <a:gd name="adj" fmla="val 1555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22376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Open core: the Apache-2.0 checker is free. Paid: a tested UGen300 bundle (installer, driver versions, device-checked model, support) and shot-list templates. Axle FOCUS: $2,995+/yr.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Today only the person's review avoids a reshoot (automatic detection 0/38); planned pickups are not savings.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§1c, §2, §4; * vendor page not readable at access. Yearly = 12 × monthly list price.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Shown today, proven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SceneGap Edge today: shot list → candidate clips with evidence → a person's decision → reshoot list → re-check, on real footage.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3931920"/>
                <a:gridCol w="192024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II 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12 controlled cases; right clip in top 5 for 7/11; missing shots caught 0/38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Recall@5 ≥ 90% and wrong reshoot ≤ 5% in the supported scope; ranking by peak; per-shot thresholds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21.5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AI-assisted, κ 0.91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labels sampled pairs on the original video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People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study; proxy 38% of footage to play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 interviews, then 8–12 crews; median task time −30%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UGen300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run; PC harness cos 1.0000, ρ 0.99999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 cos ≥ 0.98, G1b ρ ≥ 0.95, G1e status ≥ 90%; USB speed, power, editing-app load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MODEL_PLAN §4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p95 13–14 ms; 2.3 s per minute (GPU)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 for a 60 s clip ≤ 45 s, timed end to 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NFR-05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Software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 automated tests; 30 of 36 acceptance cases pass; clean rebuild passes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device and user cases (TC-017, 018, 033, 034)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A9, A12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Fewer surprises in the edit: a reshoot list made before the crew leaves, with the evidence a person checked.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six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989215"/>
                <a:gridCol w="4586358"/>
                <a:gridCol w="3057572"/>
                <a:gridCol w="2248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 on the dev project simulation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same status; no new 'candidate' on a true gap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(662 frames, 13 queries; plan ≥ 2,000 / ≥ 40)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eval/results/g1_selfcheck.json;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shown in this deck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Screenshots and cover frames come from these clips. All 44 clips used in the evaluation, with links: docs/CREDITS.md.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A5 · The 11 shots and per-shot results (correct / returned, top 5)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719429"/>
                <a:gridCol w="2338143"/>
                <a:gridCol w="1888500"/>
                <a:gridCol w="1528786"/>
                <a:gridCol w="1079143"/>
                <a:gridCol w="1169072"/>
                <a:gridCol w="989215"/>
                <a:gridCol w="1169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ENGLISH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CLIPS WITH GOLD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IN PROJECTS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Storefront from the street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(36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1/2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Café interior, tables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(39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Coffee-bean close-up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Grinding beans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(18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 or latte art poured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(48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Cup of coffee on a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(46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Someone drinking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(56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Espresso extraction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(30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2/3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Bean bag, brand readable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 s, brand (manual)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(74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eval/requirements.json, eval/labels/gold.json, eval/results/test_metrics.json. ✓ = a correct clip in the top 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A6 · Labels: agreement, third pass and the consistency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Agreement between the two AI annotators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× shot pairs agreeing (IoU ≥ 0.5 or both empty)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 / 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samples (1 fps × 11 shots)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positive / A only / B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 / 46 / 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agreement / Cohen's κ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99.1% / 0.914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labels to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1792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Consistency pass (added after labelling, before calibration)</a:t>
            </a:r>
            <a:endParaRPr lang="en-US" sz="1300" dirty="0"/>
          </a:p>
        </p:txBody>
      </p:sp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AGREED POSITIVES CHECKED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217920" y="3931920"/>
            <a:ext cx="530352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Rules the third pass wrote (examples)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4480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R3 barista: commercial setting, actively preparing coffee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R5 anything poured into the cup → SH-05, not SH-06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R8 grinding: grounds visibly come out of the spout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Only removals were possible; restoring all 78 leaves SceneGap's numbers unchanged (lenient labels, A7).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eval/labels/agreement.json, consistency.json, adjudication_rules.json.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A7 · Threshold on dev; lenient labels on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sweep (7,282 frame × shot pairs, 432 positive)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872836"/>
                <a:gridCol w="785553"/>
                <a:gridCol w="872836"/>
                <a:gridCol w="785553"/>
                <a:gridCol w="872836"/>
                <a:gridCol w="785553"/>
                <a:gridCol w="785553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2,374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1,671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67512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Test, with the 78 removed labels restored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6/11 (55%)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9/22 (41%)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33/37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8/11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22/55 (40%)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7/11 (64%)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18/55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3840480"/>
            <a:ext cx="4846320" cy="1645920"/>
          </a:xfrm>
          <a:prstGeom prst="roundRect">
            <a:avLst>
              <a:gd name="adj" fmla="val 77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0" y="39776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F1 is flat between 0.220 and 0.225; τ 0.225 chosen by the rule written before labels (ties go higher).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Precision stays at 12–15% across the range: no single threshold separates shots well frame by frame.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Centre crop beat padding by 0.0035 F1 (center-crop 0.2404, pad-square 0.2369).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eval/results/calibration.json, test_metrics.json (sensitivity_lenient_gold).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A8 · Missing-shot trade-off on dev (not used to rescore)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38143"/>
                <a:gridCol w="1438858"/>
                <a:gridCol w="2338143"/>
                <a:gridCol w="2338143"/>
                <a:gridCol w="2428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13/89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71/89 (80%)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32/89 (36%)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22/131 (17%)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49/89 (55%)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46/89 (52%)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62/131 (47%)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6/89 (7%)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76/89 (85%)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11/89 (12%)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70/89 (79%)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30/89 (34%)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eval/results/explore_dev_gap_tradeoff.json: 20 dev projects × 8 clips. Margin = similarity minus the best of 6 generic prompts.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A9 · Acceptance cases: 30 of 36 pass by automated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978429"/>
                <a:gridCol w="899286"/>
                <a:gridCol w="800364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CASES (TC-)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001, 002, 003, 004, 005, 006, 007, 008, 009, 010, 011, 012, 013, 014, 016, 019, 020, 021, 022, 023, 024, 025, 026, 027, 028, 029, 030, 031, 035, 036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applicable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check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47 automated tests; TC-035 is the clean rebuild from the public package index.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(each case with the test that covers it), clean_env.json.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A10 · Hailo-10H model zoo: options for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2877715"/>
                <a:gridCol w="1618715"/>
                <a:gridCol w="35072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(HEF)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FLOAT → ON CHIP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BATCH 1 /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clip_vit_b_32_image_encoder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CIFAR-100 zero-shot 65.3 → 64.5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same OpenAI weights as the PC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clip_vit_b_32_text_encoder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Retrieval@10 90.6 → 89.3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 / 98.8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planned: text stays on the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tinyclip_vit_61m_32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72.8 → 69.8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 / 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 if G1 fails (new threshold)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siglip2_b_32_256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74.7 → 70.4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64.7 / 221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multilingual option for Chinese shot lists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clip_vit_b_16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 → 64.6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51.5 / 158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detail, slower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At batch 8 the vendor figure (350 FPS) is close to the RTX 4080 we measured (365 frames/s); the device's case is freeing the host, not raw speed.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Hailo Model Zoo, Hailo-10H, PCIe Gen3 ×4 host (not USB); docs/MODEL_PLAN.md §2.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A11 · Market and price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967644"/>
                <a:gridCol w="3237429"/>
                <a:gridCol w="1618715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 (2025); 35% self-employed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$74,990 (May 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mid-level videographer (US)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$800–1,500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Film Lifestyle rate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video, full day (Taiwan)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 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USB 8 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(M.2 $259.99)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CNX Software; ASUS spec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single app / Jumper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 / from $49/mo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checkout excerpt / Jumper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/ 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 Studio / Final Cut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/ $299.99 one-time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Blackmagic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Pro / Team; Creator Studio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 / $25 per member per month; $129/yr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 per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press (IBC 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 and verified flags for every row).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A12 · Engineering: 47 tests; 30 of 36 acceptance cases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Other 6: 1 not applicable, 1 not run, 1 partial, 1 measured, 1 proxy, 1 manual check (needs a UGen300, a detector, or users).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the test suite; Dockerfile and CI included; Apache-2.0.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lists all 36 cases with the test that covers each (A9).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[Team name]</dc:creator>
  <cp:lastModifiedBy>[Team name]</cp:lastModifiedBy>
  <cp:revision>1</cp:revision>
  <dcterms:created xsi:type="dcterms:W3CDTF">2026-10-26T15:43:59Z</dcterms:created>
  <dcterms:modified xsi:type="dcterms:W3CDTF">2026-10-26T15:43:59Z</dcterms:modified>
</cp:coreProperties>
</file>