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blem" id="{4a386afc-38bc-f43f-446b-db87dcd91804}">
          <p14:sldIdLst>
            <p14:sldId id="257"/>
            <p14:sldId id="258"/>
            <p14:sldId id="259"/>
          </p14:sldIdLst>
        </p14:section>
        <p14:section name="Solution" id="{0d7023e3-59a3-5d72-28bf-c50054d8ef12}">
          <p14:sldIdLst>
            <p14:sldId id="260"/>
            <p14:sldId id="261"/>
            <p14:sldId id="262"/>
            <p14:sldId id="263"/>
            <p14:sldId id="264"/>
          </p14:sldIdLst>
        </p14:section>
        <p14:section name="Evidence" id="{e21ecf46-1066-e906-8a83-726e0d2adc35}">
          <p14:sldIdLst>
            <p14:sldId id="265"/>
            <p14:sldId id="266"/>
            <p14:sldId id="267"/>
            <p14:sldId id="268"/>
            <p14:sldId id="269"/>
          </p14:sldIdLst>
        </p14:section>
        <p14:section name="Hardware" id="{f6536b4e-14b0-c218-c70c-e911481acd38}">
          <p14:sldIdLst>
            <p14:sldId id="270"/>
            <p14:sldId id="271"/>
          </p14:sldIdLst>
        </p14:section>
        <p14:section name="Engineering" id="{c18127be-5bd4-33b2-836f-66e6b075212b}">
          <p14:sldIdLst>
            <p14:sldId id="272"/>
          </p14:sldIdLst>
        </p14:section>
        <p14:section name="Business" id="{290d98da-65a6-5208-8922-6b443886794c}">
          <p14:sldIdLst>
            <p14:sldId id="273"/>
            <p14:sldId id="274"/>
            <p14:sldId id="275"/>
          </p14:sldIdLst>
        </p14:section>
        <p14:section name="Appendix" id="{5ae10271-d95e-9be9-4891-db4b36628f4c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review assistant with evidence, not an automatic gap detector yet. Everything measured runs on a desktop CPU/GPU; UGen300 is not run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Illustrative scenario built from PRD ch.4 user tasks; not an interview. Interviews are Stage II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Hailo's model zoo lists CLIP ViT-B/32 image encoder for Hailo-10H (measured over PCIe, not USB).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NEO_DARK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NEO_VIOLET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11118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VIOLE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Claude-Data\claude_pzs8sxrjxfjjc\scratch-workspaces\c862142c-bcba-48f7-a17f-6dc389d84d09\2507e86a-ea8c-427c-9ed4-55b4f6822600\scratch-2026-10-25-417d2c\decks\scenegap\img\cover_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9E5FF"/>
                </a:solidFill>
              </a:rPr>
              <a:t>CREATOR AI · LIGHTNING TRACK · ASUS UGEN300</a:t>
            </a:r>
            <a:endParaRPr lang="en-US" sz="1100" dirty="0"/>
          </a:p>
        </p:txBody>
      </p:sp>
      <p:pic>
        <p:nvPicPr>
          <p:cNvPr id="4" name="Image 1" descr="C:\Users\yu9br\AppData\Local\Temp\neo-TvGv1B\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6583680" cy="1371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297180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4F2FF"/>
                </a:solidFill>
              </a:rPr>
              <a:t>Helps a crew check the shot list against the footage before leaving the location, with playable evidence and a person's decision on every shot.</a:t>
            </a:r>
            <a:endParaRPr lang="en-US" sz="2000" dirty="0"/>
          </a:p>
        </p:txBody>
      </p:sp>
      <p:sp>
        <p:nvSpPr>
          <p:cNvPr id="6" name="Shape 2"/>
          <p:cNvSpPr/>
          <p:nvPr/>
        </p:nvSpPr>
        <p:spPr>
          <a:xfrm>
            <a:off x="6400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400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Runs on your own computer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3383280" y="4343400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383280" y="4343400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Evidence for every answer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484632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48463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person decides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560320" y="484632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>
              <a:alpha val="18000"/>
            </a:srgbClr>
          </a:solidFill>
          <a:ln w="9525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60320" y="48463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UGen300 port planned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5FF"/>
                </a:solidFill>
              </a:rPr>
              <a:t>Stage I proposal · [Team name] · github.com/[team]/scenegap-edge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missing shot is found at 23:00, after the café has closed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2D3EE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459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6459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Illustrative scenario · two-person crew, café promo, 11 must-have shots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377440"/>
            <a:ext cx="3931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E9E5FF"/>
                </a:solidFill>
              </a:rPr>
              <a:t>“We had pours. None of them was three seconds long. We found out in the edit.”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029200" y="1600200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1600200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09:00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1600200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Shot list agreed with the client: storefront, interior, beans, grinder, 3 s pour, two barista takes, bag with readable brand.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0" y="2718054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2718054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17:40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718054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Wrap. Several cards of footage; nobody has time to watch it all on site.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835908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57800" y="3835908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78FF"/>
                </a:solidFill>
              </a:rPr>
              <a:t>23:00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835908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The editor scrubs for the pour: every take cuts away after 2 s, and nobody filmed a customer drinking.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029200" y="4953762"/>
            <a:ext cx="6492240" cy="989838"/>
          </a:xfrm>
          <a:prstGeom prst="roundRect">
            <a:avLst>
              <a:gd name="adj" fmla="val 12933"/>
            </a:avLst>
          </a:prstGeom>
          <a:solidFill>
            <a:srgbClr val="15151F"/>
          </a:solidFill>
          <a:ln w="9525">
            <a:solidFill>
              <a:srgbClr val="2A2A3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953762"/>
            <a:ext cx="109728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</a:rPr>
              <a:t>Next week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53762"/>
            <a:ext cx="4892040" cy="989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5E7EB"/>
                </a:solidFill>
              </a:rPr>
              <a:t>Reshoot day: crew, café, client sign-off again.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Existing tools find footage; SceneGap adds shot-list rules, evidence and reshoot tracking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2967644"/>
                <a:gridCol w="2068358"/>
                <a:gridCol w="1978429"/>
                <a:gridCol w="2518001"/>
                <a:gridCol w="1348929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SEARCHES FOOTAGE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FINDS THE MOMENT IN A CLIP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RULES (LENGTH / TAKES / SAME FRAME)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 LOCALLY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Premiere Pro media intelligence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(In/Out range)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(on device)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DaVinci Resolve 21 IntelliSearch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visual: whole clips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Final Cut Pro 12 visual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Frame.io semantic search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(beta)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(cloud)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Jumper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in official docs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invideo AI script supervisor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matches footage to a shot list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stated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/ pending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(upload)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 Edge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checked per rule; a person decides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The difference is the workflow around search: shot list → rules → evidence → a person's decision → reshoot list → re-check.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Vendor documentation, accessed 2026-10-26 (Adobe media intelligence FAQ and others); URLs in docs/research/BUSINESS_FACTS.md.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works today, and what still needs proof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PROBLEM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600200"/>
            <a:ext cx="5303520" cy="3566160"/>
          </a:xfrm>
          <a:prstGeom prst="roundRect">
            <a:avLst>
              <a:gd name="adj" fmla="val 3590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11118"/>
                </a:solidFill>
              </a:rPr>
              <a:t>Shown today (live app, real footage)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Shot list in the crew's words, with rules: length, takes, same frame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Candidate clips with playable evidence on the original timecode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Rule checks: 10 of 12 controlled cases judged right (slide 11)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A person accepts, rejects, or adds the shot to the reshoot list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374151"/>
                </a:solidFill>
              </a:rPr>
              <a:t>New footage re-checked; only the new files are analysed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</a:rPr>
              <a:t>Not shown yet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68880"/>
            <a:ext cx="466344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Reliable automatic missing-shot detection (0 of 38 on test, slide 14)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Time saved for a real crew: no user study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UGen300 speed and quality: not run on the device yet</a:t>
            </a:r>
            <a:endParaRPr lang="en-US" sz="14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E5E7EB"/>
                </a:solidFill>
              </a:rPr>
              <a:t>Human-checked labels: current labels are AI-assisted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5440680"/>
            <a:ext cx="0" cy="457200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" y="53949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SceneGap Edge today is a review assistant that keeps evidence and a person's decision; automation grows only as it is proven.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From your shot list to a decision you can play back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924812" y="2075688"/>
            <a:ext cx="8311896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32204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632204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Write the shot list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In Chinese, as the crew speaks. A person checks the English search phrase and adds rules: min. length, takes, same frame.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02836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02836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10712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593592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Index footage locally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Find camera cuts and sample one frame per second on the original timecode; CLIP turns each frame into a searchable vector.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593592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93592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 today → UGen300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173468" y="1783080"/>
            <a:ext cx="585216" cy="58521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73468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03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181344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64224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Check each rule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364224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Search finds candidate clips; each rule is checked and shown as pass, fail or can't tell. Failing clips stay visible.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364224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944100" y="1783080"/>
            <a:ext cx="585216" cy="585216"/>
          </a:xfrm>
          <a:prstGeom prst="ellipse">
            <a:avLst/>
          </a:prstGeom>
          <a:solidFill>
            <a:srgbClr val="6C4CF5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944100" y="178308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04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951976" y="2560320"/>
            <a:ext cx="2569464" cy="2514600"/>
          </a:xfrm>
          <a:prstGeom prst="roundRect">
            <a:avLst>
              <a:gd name="adj" fmla="val 509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34856" y="2697480"/>
            <a:ext cx="2203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118"/>
                </a:solidFill>
              </a:rPr>
              <a:t>A person decides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134856" y="3383280"/>
            <a:ext cx="220370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</a:rPr>
              <a:t>Accept, reject with a reason, or add the shot to the reshoot list. Only the person's decision counts as done.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134856" y="4636008"/>
            <a:ext cx="2203704" cy="292608"/>
          </a:xfrm>
          <a:prstGeom prst="roundRect">
            <a:avLst>
              <a:gd name="adj" fmla="val 50000"/>
            </a:avLst>
          </a:prstGeom>
          <a:solidFill>
            <a:srgbClr val="8B78FF"/>
          </a:solidFill>
          <a:ln w="12700">
            <a:solidFill>
              <a:srgbClr val="8B78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34856" y="4636008"/>
            <a:ext cx="220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PC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239512"/>
            <a:ext cx="108813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</a:rPr>
              <a:t>UGen300 box = planned route; today the same model runs on the PC's CPU or GPU and is labelled cpu-/cuda-reference.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The AI gives one of four answers; only a person can mark a shot done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 AI's answer and the person's decision are stored separately; only the person's counts as done.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Candidate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Every rule passes on at least one clip. Still needs a person to accept.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Partial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Something matched but a rule failed or can't be decided: too short, one take of two, a manual check left.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Not found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Nothing reached the threshold in the analysed files. Not proof of absence; a reshoot card is suggested.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Unverifiable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Files failed to decode or are missing, so absence cannot be claimed. Fix the scope first.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Person: accepted / rejected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Bound to the shot's version. Edit the shot and the old decision no longer counts.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Outdated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Shot, footage, model or threshold changed since the run. The old answer is hidden, not reused.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Before leaving, the crew sees which shots are confirmed and which need a look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Before leaving, the crew sees which shots are confirmed and which need a l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Live app on 9 Wikimedia Commons clips after a CLIP run and a short review by a person. Frames are real footage.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Read in one pass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Each row: the shot, the AI's answer, the person's decision, the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Coverage counts only shots a person accepted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Filters: waiting for review, missing, decided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Every answer plays its clip, and a person decides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Every answer plays its clip, and a person deci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Shot SH-05 「咖啡倒入杯中或拉花，連續 3 秒」 (coffee or latte art poured into a cup, 3 s). The espresso stream with no cup was rejected; the latte-art pour accepted. The 24 s range is how long the frames stay close to the query, not a measured pour: the person checks the action.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One click per decision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Accept, reject with a reason, adjust the range, add to reshoot list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Filmstrip and clip ranges on the original timecode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Every decision is logged and can be undone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Original files are never touched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Shots without a usable clip go on a reshoot list before the crew leaves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SOLUTION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6656832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Shots without a usable clip go on a reshoot list before the crew leav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6510528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733288"/>
            <a:ext cx="6510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Same demo: the AI still offered candidates for the grinder and someone drinking; a person rejected them and put both, with the coffee bag, on the reshoot list.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24928" y="1481328"/>
            <a:ext cx="4096512" cy="4215384"/>
          </a:xfrm>
          <a:prstGeom prst="roundRect">
            <a:avLst>
              <a:gd name="adj" fmla="val 3125"/>
            </a:avLst>
          </a:prstGeom>
          <a:solidFill>
            <a:srgbClr val="0B0B12"/>
          </a:solidFill>
          <a:ln w="12700">
            <a:solidFill>
              <a:srgbClr val="0B0B1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53528" y="1691640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</a:rPr>
              <a:t>What the crew gets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7653528" y="2240280"/>
            <a:ext cx="36393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The shot, why it is missing, the closest clip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Minimum length and how it will be checked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5E7EB"/>
                </a:solidFill>
              </a:rPr>
              <a:t>Status: to decide → reshoot → shooting → done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What each rule actually measures, and what it cannot tell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528786"/>
                <a:gridCol w="3956858"/>
                <a:gridCol w="3597144"/>
                <a:gridCol w="17985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SCENEGAP MEASURES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CANNOT TELL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Length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long frames stay close to the query inside one camera cut (lower and upper bound; re-check every 0.25 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the action itself lasts that long: a finished latte looks like a pour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Both phrases above the threshold in the same sampled frame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 is with whom; objects too small for CLIP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Takes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Distinct files, by content hash; duplicates of one file are one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re-encoded copy of the same take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a person checks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Readable brand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automatic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Reading text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found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Nothing reached the threshold in the analysed files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Proof that the shot was never filmed; failed files make it 'can't tell'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auto, scope shown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Dense sampling gives more observations, not certainty: a clip that looks like pouring is still checked by a person.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Rule check on real footage: 10 of 12 cases right; misses are a finished latte and a re-encoded copy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046787"/>
                <a:gridCol w="2338143"/>
                <a:gridCol w="1079143"/>
                <a:gridCol w="2607929"/>
                <a:gridCol w="809357"/>
              </a:tblGrid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 (REAL COMMONS FOOTAGE, CUT TO A KNOWN ANSWER)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 RULE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SHOULD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RIGHT?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4 s latte-art pour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 pour from a different shoot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lasts only 2 s (rule: 3 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2 s pours split by another shot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finished latte, nothing is poured (5 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pour ≥ 3 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 at a café table,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people in a café,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but outdoors (not in a café)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people in a café,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people, then a café interior: separate shots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people in a café, same frame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(no_candidate)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barista clip (rule: 2 takes)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(duration_short, takes_short)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same clip copied byte for byte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 (duration_short, takes_short)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same clip re-encoded (still one take)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different barista clips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barista, 2 takes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CLIP sees a finished latte as 'pouring'; takes are told apart by file hash. eval/rule_check.py, eval/results/rule_check.json; a separate experiment from the held-out test, frozen threshold.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How we tested: fixed protocol, open footage, AI-assisted labels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Protocol first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Metrics, split and threshold rule committed to git before any label existed.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Shot list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11 café-promo shots and queries written before any frame was seen.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Footage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44 Wikimedia Commons clips, split by author: 18 dev, 26 test.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AI-assisted labels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Two AI passes on 1 fps sheets agree (κ 0.91); a third pass on every disagreement. Human checks: Stage II.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Step 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Test once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Threshold set on dev, frozen; test scored once. Versions, labels and result files are in the repo.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footage: right clip in the top 5 for 7 of 11 shots; plain frame search found 8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777001"/>
                <a:gridCol w="3507215"/>
                <a:gridCol w="3597144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RIGHT CLIP IN TOP 5 (HIT@5)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PICKS THAT ARE RIGHT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 (whole clips)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 (5/11, 95% CI 21–72%)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36% (8/22, 95% CI 20–57%; fewer than 5 returned)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 search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(8/11, 95% CI 43–90%)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 (22/55, 95% CI 28–53%)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SceneGap: clips ranked after the rule checks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 (7/11, 95% CI 35–85%)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 (18/55, 95% CI 22–46%)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Lost SH-03 and SH-04, gained SH-06. The lost grinder clip passes every rule on its own (19 s run), so the rules did not reject it: ranking by a run's average similarity pushed it out. Stage II ranks by peak.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26 held-out clips, scored once, τ = 0.225. A hit needs 0.5 s overlap, so this layer does not test the length rule (slide 11 does).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Finding missing shots automatically does not work yet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Unit: one shot in one simulated 8-clip project (8 × 11 = 88). Missing = 38, present = 50. Found = 'candidate'; couldn't decide = 'partial' or 'unverifiable'.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881360" cy="914400"/>
        </p:xfrm>
        <a:graphic>
          <a:graphicData uri="http://schemas.openxmlformats.org/drawingml/2006/table">
            <a:tbl>
              <a:tblPr/>
              <a:tblGrid>
                <a:gridCol w="2877715"/>
                <a:gridCol w="1978429"/>
                <a:gridCol w="2248215"/>
                <a:gridCol w="1798572"/>
                <a:gridCol w="1978429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SHOTS CAUGHT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RESHOOT ASKED, SHOT WAS THERE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COULDN'T DECIDE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SAID 'FOUND' WHEN ABSENT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Title keyword match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34/38 (89%)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22/50 (44%)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4/38 (11%)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Single-frame semantic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0/88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38/38 (100%)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SceneGap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0/38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0/50 (0%)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11/88 (12%)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6C4CF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30/38 (79%)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SceneGap never said 'not found', so its 0% wrong reshoots means nothing yet. The threshold was tuned on single frames; Stage II calibrates per shot.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eval/results/test_metrics.json; a dev-only sweep (relative score) catches 33% of gaps at 11% wrong reshoots, not used to rescore test.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Plan: the image half of CLIP on the UGen300; the PC keeps the rest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761611" y="1481328"/>
            <a:ext cx="8638297" cy="4215384"/>
          </a:xfrm>
          <a:prstGeom prst="roundRect">
            <a:avLst>
              <a:gd name="adj" fmla="val 2603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pic>
        <p:nvPicPr>
          <p:cNvPr id="6" name="Image 0" descr="Plan: the image half of CLIP on the UGen300; the PC keeps the re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4763" y="1554480"/>
            <a:ext cx="8491993" cy="4069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34763" y="5733288"/>
            <a:ext cx="84919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Demo PC: Windows 11, RTX 4080. UGen300 supports Windows, Linux and Android (no macOS listed); on a Mac SceneGap runs on CPU only. Before the device replaces the PC model it must pass five G1 checks against the PC (appendix A1).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On a desktop, analysis already costs 2.3–3.1 s per minute; UGen300's value is a hypothesis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HARDWARE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798572"/>
                <a:gridCol w="2697858"/>
                <a:gridCol w="2518001"/>
                <a:gridCol w="2338143"/>
                <a:gridCol w="1528786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ANALYSE (DECODE + MODEL)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SEARCH, TYPICAL / SLOWEST 5% (10K CLIPS)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LOAD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desktop CPU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 / 14.29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6.51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cuda-reference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NVIDIA GeForce RTX 4080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 s per minute of video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7.61 / 13.39 ms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1.88 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UGen300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Hailo-10H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Stage II test: an editing app alone, then with CPU, GPU or UGen300 analysis — dropped frames, CPU/GPU load, power and index time.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eval/results/perf.json (six short clips, ≤1280 px), interference.json. Playing a 1080p30 test pattern while analysing: 0 of 1,800 frames late (slowest 5%: 5.7 ms idle, 7.5 ms CPU, 6.2 ms GPU).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Engineering: 46 automated tests; 30 of 36 acceptance cases pass by test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ENGINEERING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These show the software is reliable, not that the AI is accurate. The other 6: two need a UGen300, one needs an object detector, three are measured, proxy or manual.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Media edge cases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Rotation, 29.97 fps, VFR, start offsets, corrupt and unsupported codecs, files still copying, moved files found again by hash.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Logic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'Can't tell' stays 'can't tell'; two short clips never count as one long one; duplicates are not two takes; editing a shot voids old decisions.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Security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127.0.0.1 only, per-run token, Origin + Host checks, authorised folders, CSV formula guard, escaped HTML, errors never expose internals.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4008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9611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4211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Offline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9611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Core flow tested with outbound sockets blocked. Footage never leaves the computer.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434340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459943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421124"/>
            <a:ext cx="329184" cy="32918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30352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Failure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Disk full stops safely and resumes; interrupted jobs resume; originals' hashes unchanged.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8046720" y="4046220"/>
            <a:ext cx="3474720" cy="1851660"/>
          </a:xfrm>
          <a:prstGeom prst="roundRect">
            <a:avLst>
              <a:gd name="adj" fmla="val 691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302752" y="430225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421124"/>
            <a:ext cx="329184" cy="32918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06840" y="430225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Rebuild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8302752" y="5006340"/>
            <a:ext cx="2962656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 fresh venv from the public index passes all 46 tests; Dockerfile and CI included; Apache-2.0.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Who pays: small crews and freelance editors who shoot on location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136715"/>
                <a:gridCol w="3597144"/>
                <a:gridCol w="3147501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film and video editors / camera operators (2025)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39,400 / 32,600; 35% self-employed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pay, editors (May 2025)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$75,420 / yr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BLS OOH, accessed 2026-10-26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rate, small crew (estimate)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NT$12,000–28,000 (TW); $800–1,500 (US)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PRO360 quotes; rate cards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Creators worldwide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~50M, ~4% professional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Goldman Sachs (estimate, partly verified)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Shot-list practice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tick off shots and schedule pickup shots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StudioBinder guide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Value per project = hours saved × hourly cost + expected reshoot cost avoided − tool cost. Hours include setup, import, waiting and review; unmeasured until the user study.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docs/research/BUSINESS_FACTS.md (URLs, access dates, verified flags).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Open core; customers pay for a tested bundle and templates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BUSINESS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</a:rPr>
              <a:t>Prices are hypotheses to test in interviews. Benchmarks: Resolve Studio $295 and Final Cut Pro $299.99 one-time; UGen300 reported at $299.99.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611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34086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Free: Apache-2.0 core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Anyone can run, audit and extend the checker on CPU or GPU. Trust matters when footage never leaves the machine.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4340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59943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234086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30352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Paid: UGen300 bundle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Signed installer, tested driver and runtime versions, the device-checked model, and support. Sold with or for the accelerator.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046720" y="1965960"/>
            <a:ext cx="3474720" cy="3931920"/>
          </a:xfrm>
          <a:prstGeom prst="roundRect">
            <a:avLst>
              <a:gd name="adj" fmla="val 3684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302752" y="2221992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8E4FF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34086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06840" y="2221992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118"/>
                </a:solidFill>
              </a:rPr>
              <a:t>Paid: shot-list templates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926080"/>
            <a:ext cx="296265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</a:rPr>
              <a:t>Per genre (café, product, event, wedding) with tested queries and rules; yearly updates.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yu9br\AppData\Local\Temp\neo-TvGv1B\a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8686800" cy="13716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9718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C9D6"/>
                </a:solidFill>
              </a:rPr>
              <a:t>SceneGap Edge · a review assistant that keeps evidence and a person's decision for every shot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7947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Shown: shot list → candidate clips with evidence → a person's decision → reshoot list → re-check, on real footage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Proof 1, the rules: more controlled cases, human-checked labels on the original video, ranking by peak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Proof 2, people: 3–5 interviews, then crews checking a card by hand vs with SceneGap (time, misses, wrong reshoots)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E5E7EB"/>
                </a:solidFill>
              </a:rPr>
              <a:t>Proof 3, the UGen300: G1 checks on the device, then editing-app load with and without it</a:t>
            </a:r>
            <a:endParaRPr lang="en-US" sz="15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A1 · G1: five checks before the UGen300 replaces the PC model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1079143"/>
                <a:gridCol w="4496430"/>
                <a:gridCol w="2877715"/>
                <a:gridCol w="2428072"/>
              </a:tblGrid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(DEV FRAMES, SAME PREPROCESSING)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BAR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Cosine, HEF vs fp32 embedding, per frame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0.98, p5 ≥ 0.95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G1b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 ρ of similarity per query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≥ 0.95, worst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Top-5 / top-10 shot overlap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0.80 / ≥ 0.85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Hit@5, each backend with its own 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dev shot lost vs fp32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G1f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Frames/s over USB, 60 s clip end to end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reported, no bar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run yet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Harness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script, CPU vs CUDA fp32 (self-check)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1.0 expected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 1.0000, ρ 0.99999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413248"/>
            <a:ext cx="0" cy="384048"/>
          </a:xfrm>
          <a:prstGeom prst="line">
            <a:avLst/>
          </a:prstGeom>
          <a:noFill/>
          <a:ln w="38100">
            <a:solidFill>
              <a:srgbClr val="6C4CF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1248" y="5376672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118"/>
                </a:solidFill>
              </a:rPr>
              <a:t>Vendor: Hailo-10H ViT-B/32 image encoder, CIFAR-100 zero-shot 65.3 float → 64.5 on chip (PCIe, not USB).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03504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docs/MODEL_PLAN.md §2, §4; Hailo Model Zoo (vendor figures).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A2 · What could break, and what we do then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4676287"/>
                <a:gridCol w="6205073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FALLBACK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HEF fails G1 (quantisation hurts ranking)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Recalibrate with dev frames; TinyCLIP; else ship the CPU/GPU version and say so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borderline camera cut splits a long take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length check says 'can't tell', not 'too short'; the cut is shown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global threshold fits some shots badly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threshold per model version now; per type of shot next, set on dev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English phrase drifts from the Chinese shot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checks the phrase; a multilingual model only after its own check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AI-assisted labels, Commons footage, small test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Intervals shown; Stage II adds human labels and self-shot projects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Crews will not write shot lists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1111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Templates; the interviews check this first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A3 · Stage II order: rules and people first, then the device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62379" y="2331720"/>
            <a:ext cx="8836762" cy="0"/>
          </a:xfrm>
          <a:prstGeom prst="line">
            <a:avLst/>
          </a:prstGeom>
          <a:noFill/>
          <a:ln w="25400">
            <a:solidFill>
              <a:srgbClr val="E8E4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507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1–2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Rules and labels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More controlled cases; a person labels sampled pairs on the original video; rank runs by peak.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75269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49270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2–3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849270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6430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Missing shots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6430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Per-shot thresholds with a project-level target; preregister, score once on new footage.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6188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5846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3–5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5846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9562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User study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19562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3–5 interviews, then 8–12 crews: by hand vs SceneGap, counterbalanced; time, misses, wrong reshoots.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171078" y="2212848"/>
            <a:ext cx="237744" cy="237744"/>
          </a:xfrm>
          <a:prstGeom prst="ellipse">
            <a:avLst/>
          </a:prstGeom>
          <a:solidFill>
            <a:srgbClr val="6C4CF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67651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4–6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267651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4811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UGen300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04811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G1 on the device; editing-app load with CPU, GPU or UGen300 analysis.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0380269" y="2212848"/>
            <a:ext cx="237744" cy="237744"/>
          </a:xfrm>
          <a:prstGeom prst="ellipse">
            <a:avLst/>
          </a:prstGeom>
          <a:solidFill>
            <a:srgbClr val="22D3E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476842" y="1600200"/>
            <a:ext cx="20445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</a:rPr>
              <a:t>Wk 6+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476842" y="2697480"/>
            <a:ext cx="2044598" cy="3063240"/>
          </a:xfrm>
          <a:prstGeom prst="roundRect">
            <a:avLst>
              <a:gd name="adj" fmla="val 6261"/>
            </a:avLst>
          </a:prstGeom>
          <a:solidFill>
            <a:srgbClr val="F3F1FF"/>
          </a:solidFill>
          <a:ln w="12700">
            <a:solidFill>
              <a:srgbClr val="F3F1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14002" y="2834640"/>
            <a:ext cx="17702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118"/>
                </a:solidFill>
              </a:rPr>
              <a:t>Chinese queries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614002" y="3520440"/>
            <a:ext cx="177027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</a:rPr>
              <a:t>A multilingual model (SigLIP 2), adopted only if it finds as many dev shots.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A4 · Footage credits (1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Cadaques cafe de la habana 2008 august converted YAN3.ogv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Cliché Online (Yan.)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Vichy - Grand Café, terrasse sous la grêle.ogv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Romainbehar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Merry X-mas at Kranzler.webm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C.Suthorn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Times Cafe inflatable waving character.webm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Andy Li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Rateel cafe music2.webm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Iainsimpsonstewart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Starbucks en la aĉetcentro Kristall (Tjumeno).webm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RG72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Interior Paragon Café Katoomba.ogv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Bluedawe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Café Lomi, Paris - Vimeo.webm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ideafarm films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Operation Ghost Stories - Video 01.webm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FBI – Federal Bureau of Investigation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009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Bean &amp; Tea Leaf Process.webm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Kelliks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“走线客”过境墨西哥 不忘来杯星巴克.webm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美国之音中文网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A5 · Footage credits (2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Color sorter coffeebeans.webm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AlexanderKlink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Kaffe - Ystad-2024.ogg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Jonn Leffmann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from dan 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Denis kasozi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Traditional Ethiopian Coffee Roasting Ceremony.webm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Keria T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Despulpadora.ogg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Jhonespe150102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Lions Almelo zamelt koffie in voor Voedselbank.webm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AAVISIE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Sunday Morning Espresso Routine - Grind + distribute + tamp + extraction (15-Second Abridged Version).webm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Scott Schiller from San Francisco, CA, USA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2.0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Кофемельница JURA 43.webm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Gontcharik.petr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MoliendoCafeEnLicuadora ohs02.webm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PetrohsW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Espresso video.ogv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Rosatrieu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Macro Espresso Process.webm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Scott Schiller from San Francisco, CA, USA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2.0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A6 · Footage credits (3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Der perfekte Espresso aus dem Siebträger.ogv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Duchardt, Katrin Engel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Pour Over.ogv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Lev Lazinskiy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Use of a coffee press.ogv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Daniel Case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Schritt für Schritt - Kaffeezubereitung mit der Chemex.ogv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Duchardt, Katrin Engel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flower - 01.ogv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art leaf - 01.ogv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Anna Frodesiak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Nespresso machine.ogv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Kjetil Ree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man pours Arabic coffee.ogv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Sarah Canbel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Servido tradicional de café etíope.webm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ProtoplasmaKid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How to brew Coffee using the laws of physics - with the Hario Syphon Technica.webm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Coffee Circle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Sugar falling into coffee.webm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Anselm Schüler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50292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11118"/>
                </a:solidFill>
              </a:rPr>
              <a:t>A7 · Footage credits (4 of 4)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C4CF5"/>
                </a:solidFill>
              </a:rPr>
              <a:t>APPENDIX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</a:rPr>
              <a:t>SceneGap Edge · Stage I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539572"/>
                <a:gridCol w="5935287"/>
                <a:gridCol w="2787786"/>
                <a:gridCol w="1618715"/>
              </a:tblGrid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WIKIMEDIA COMMONS FILE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AUTHOR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LICENCE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111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Bosnian coffee with rahat lokum, Kujundziluk and Old Bridge in Mostar - Bosnia and Herzegovina (2026)-bs.webm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Minja Klarić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034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cup of Kenyan Coffee.webm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Queen Asali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035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Latte salute.webm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 White House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Public domain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036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Turkish tea 2015.webm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Klapi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037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Jane pouring beer fast.webm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Angulidayaaluta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038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Turkovich Family Wines - June 2019 - Stierch 03.ogv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Missvain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039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Drinking glass symphony.ogv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IMG 4512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Thermochromic mug.webm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The wub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BY-SA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041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Empty Streets of Paris COVID19.webm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CreatorsCloud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042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IrishTraditionalMusic-IrishPub-Tokyo-2016-2-24.webm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Nesnad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4.0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043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Couple holding hands.webm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YouTube user “Editor”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11118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CC BY 3.0</a:t>
                      </a:r>
                      <a:endParaRPr lang="en-US" sz="9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101600" marR="10160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A3A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eneGap Edge · Stage I">
  <a:themeElements>
    <a:clrScheme name="SceneGap Edge · Stage I">
      <a:dk1>
        <a:srgbClr val="111118"/>
      </a:dk1>
      <a:lt1>
        <a:srgbClr val="FFFFFF"/>
      </a:lt1>
      <a:dk2>
        <a:srgbClr val="0B0B12"/>
      </a:dk2>
      <a:lt2>
        <a:srgbClr val="F3F1FF"/>
      </a:lt2>
      <a:accent1>
        <a:srgbClr val="6C4CF5"/>
      </a:accent1>
      <a:accent2>
        <a:srgbClr val="22D3EE"/>
      </a:accent2>
      <a:accent3>
        <a:srgbClr val="8B78FF"/>
      </a:accent3>
      <a:accent4>
        <a:srgbClr val="A78BFA"/>
      </a:accent4>
      <a:accent5>
        <a:srgbClr val="0EA5E9"/>
      </a:accent5>
      <a:accent6>
        <a:srgbClr val="6B7280"/>
      </a:accent6>
      <a:hlink>
        <a:srgbClr val="6C4CF5"/>
      </a:hlink>
      <a:folHlink>
        <a:srgbClr val="8B78FF"/>
      </a:folHlink>
    </a:clrScheme>
    <a:fontScheme name="SceneGap Edge · Stage 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SceneGap Edge – Stage I proposal</dc:title>
  <dc:subject>PptxGenJS Presentation</dc:subject>
  <dc:creator>[Team name]</dc:creator>
  <cp:lastModifiedBy>[Team name]</cp:lastModifiedBy>
  <cp:revision>1</cp:revision>
  <dcterms:created xsi:type="dcterms:W3CDTF">2026-10-26T14:58:59Z</dcterms:created>
  <dcterms:modified xsi:type="dcterms:W3CDTF">2026-10-26T14:58:59Z</dcterms:modified>
</cp:coreProperties>
</file>