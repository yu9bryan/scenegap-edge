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ca804b22-8e8d-4c33-78af-2a31cb22561a}">
          <p14:sldIdLst>
            <p14:sldId id="257"/>
            <p14:sldId id="258"/>
            <p14:sldId id="259"/>
          </p14:sldIdLst>
        </p14:section>
        <p14:section name="Solution" id="{14f77cca-f561-7140-fbc2-57de14481bda}">
          <p14:sldIdLst>
            <p14:sldId id="260"/>
            <p14:sldId id="261"/>
            <p14:sldId id="262"/>
            <p14:sldId id="263"/>
            <p14:sldId id="264"/>
          </p14:sldIdLst>
        </p14:section>
        <p14:section name="Evidence" id="{38356f06-9d87-2cc6-321b-7b7d97037201}">
          <p14:sldIdLst>
            <p14:sldId id="265"/>
            <p14:sldId id="266"/>
            <p14:sldId id="267"/>
            <p14:sldId id="268"/>
            <p14:sldId id="269"/>
          </p14:sldIdLst>
        </p14:section>
        <p14:section name="Hardware" id="{34265667-fb11-017e-1533-c074190c7f8c}">
          <p14:sldIdLst>
            <p14:sldId id="270"/>
            <p14:sldId id="271"/>
          </p14:sldIdLst>
        </p14:section>
        <p14:section name="Engineering" id="{94ce7110-f077-a7ce-e042-64bb2e1737c4}">
          <p14:sldIdLst>
            <p14:sldId id="272"/>
          </p14:sldIdLst>
        </p14:section>
        <p14:section name="Business" id="{005eb6df-f8e0-3eb4-eda8-a4180bd1d13e}">
          <p14:sldIdLst>
            <p14:sldId id="273"/>
            <p14:sldId id="274"/>
            <p14:sldId id="275"/>
          </p14:sldIdLst>
        </p14:section>
        <p14:section name="Appendix" id="{6d9b815f-310b-61c9-e7b5-ff7d2782a8a6}">
          <p14:sldIdLst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review assistant with evidence, not an automatic gap detector yet. Everything measured runs on a desktop CPU/GPU; UGen300 is not run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scenario built from PRD ch.4 user tasks; not an interview. Interviews are Stage II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Hailo's model zoo lists CLIP ViT-B/32 image encoder for Hailo-10H (measured over PCIe, not USB).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42lqli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crew, café, client sign-off again.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967644"/>
                <a:gridCol w="2068358"/>
                <a:gridCol w="1978429"/>
                <a:gridCol w="2518001"/>
                <a:gridCol w="13489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SEARCHES 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 / TAKES /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(In/Out range)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(on device)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whole clips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semantic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(beta)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(cloud)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matches footage to a shot list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others); URLs in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11)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New footage re-checked; only the new files are analysed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Reliable automatic missing-shot detection (0 of 38 on test, slide 14)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 for a real crew: no user study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4812" y="2075688"/>
            <a:ext cx="8311896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2204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2204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Write the shot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In Chinese, as the crew speaks. A person checks the English search phrase and adds rules: min. length, takes, same frame.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02836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2836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10712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Index footage locally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Find camera cuts and sample one frame per second on the original timecode; CLIP turns each frame into a searchable vector.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93592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93592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 today → UGen300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73468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73468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81344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4224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Check each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Search finds candidate clips; each rule is checked and shown as pass, fail or can't tell. Failing clips stay visible.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44100" y="1783080"/>
            <a:ext cx="585216" cy="585216"/>
          </a:xfrm>
          <a:prstGeom prst="ellipse">
            <a:avLst/>
          </a:prstGeom>
          <a:solidFill>
            <a:srgbClr val="6C4CF5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44100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51976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A person decides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Accept, reject with a reason, or add the shot to the reshoot list. Only the person's decision counts as done.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34856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34856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239512"/>
            <a:ext cx="10881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UGen300 box = planned route; today the same model runs on the PC's CPU or GPU and is labelled cpu-/cuda-reference.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The AI gives one of four answers; only a person can mark a shot done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 AI's answer and the person's decision are stored separately; only the person's counts as done.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Candidate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Every rule passes on at least one clip. Still needs a person to accept.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Partial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Something matched but a rule failed or can't be decided: too short, one take of two, a manual check left.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Not found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Nothing reached the threshold in the analysed files. Not proof of absence; a reshoot card is suggested.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Unverifiable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Files failed to decode or are missing, so absence cannot be claimed. Fix the scope first.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Person: accepted / rejected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Bound to the shot's version. Edit the shot and the old decision no longer counts.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Outdated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Shot, footage, model or threshold changed since the run. The old answer is hidden, not reused.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 and which need a look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Before leaving, the crew sees which shots are confirmed and which need a l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Live app on 9 Wikimedia Commons clips after a CLIP run and a short review by a person. Frames are real footage.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Read in one pass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Each row: the shot, the AI's answer, the person's decision, the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Coverage counts only shots a person accepted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Filters: waiting for review, missing, decided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Every answer plays its clip, and a person deci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Shot SH-05 「咖啡倒入杯中或拉花，連續 3 秒」 (coffee or latte art poured into a cup, 3 s). The espresso stream with no cup was rejected; the latte-art pour accepted. The 24 s range is how long the frames stay close to the query, not a measured pour: the person checks the action.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One click per decision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Accept, reject with a reason, adjust the range, add to reshoot list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Every decision is logged and can be undone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Original files are never touched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a reshoot list before the crew leaves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Shots without a usable clip go on a reshoot list before the crew lea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Same demo: the AI still offered candidates for the grinder and someone drinking; a person rejected them and put both, with the coffee bag, on the reshoot list.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What the crew gets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The shot, why it is missing, the closest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Minimum length and how it will be checked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Status: to decide → reshoot → shooting →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long: a finished latte looks like a pour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that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 on real footage: 10 of 12 cases right; misses are a finished latte and a re-encoded copy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046787"/>
                <a:gridCol w="2338143"/>
                <a:gridCol w="1079143"/>
                <a:gridCol w="2607929"/>
                <a:gridCol w="809357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 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4 s latte-art pour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 pour from a different 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lasts only 2 s (rule: 3 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2 s pours split by another 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finished latte, nothing is poured (5 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 at a café table,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people in a café,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but outdoors (not in a café)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people in a café,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then a café interior: separate shots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people in a café,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barista clip (rule: 2 takes)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(duration_short, takes_short)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same clip copied byte for byte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(duration_short, takes_short)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same clip re-encoded (still one take)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different barista clips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CLIP sees a finished latte as 'pouring'; takes are told apart by file hash. eval/rule_check.py, eval/results/rule_check.json; a separate experiment from the held-out test,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Protocol first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Metrics, split and threshold rule committed to git before any label existed.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Shot list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11 café-promo shots and queries written before any frame was seen.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Footage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44 Wikimedia Commons clips, split by author: 18 dev, 26 test.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AI-assisted labels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Two AI passes on 1 fps sheets agree (κ 0.91); a third pass on every disagreement. Human checks: Stage II.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Test once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Threshold set on dev, frozen; test scored once. Versions, labels and result files are in the repo.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footage: 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777001"/>
                <a:gridCol w="3507215"/>
                <a:gridCol w="359714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 (HIT@5)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THAT ARE RIGHT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 (whole clips)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95% CI 21–72%)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95% CI 20–57%; fewer than 5 returned)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 search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95% CI 43–90%)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(22/55, 95% CI 28–53%)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SceneGap: clips ranked after the rule checks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95% CI 35–85%)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(18/55, 95% CI 22–46%)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Lost SH-03 and SH-04, gained SH-06. The lost grinder clip passes every rule on its own (19 s run), so the rules did not reject it: ranking by a run's average similarity pushed it out. Stage II ranks by peak.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scored once, τ = 0.225. A hit needs 0.5 s overlap, so this layer does not test the length rule (slide 11 does).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does not work yet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Unit: one shot in one simulated 8-clip project (8 × 11 = 88). Missing = 38, present = 50. Found = 'candidate'; couldn't decide = 'partial' or 'unverifiable'.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1978429"/>
                <a:gridCol w="2248215"/>
                <a:gridCol w="1798572"/>
                <a:gridCol w="1978429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ASKED, SHOT WAS THERE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COULDN'T DECIDE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SAID 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34/38 (89%)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22/50 (44%)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4/38 (11%)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38/38 (100%)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11/88 (12%)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30/38 (79%)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SceneGap never said 'not found', so its 0% wrong reshoots means nothing yet. The threshold was tuned on single frames; Stage II calibrates per shot.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a dev-only sweep (relative score) catches 33% of gaps at 11% wrong reshoots, not used to rescore test.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761611" y="1481328"/>
            <a:ext cx="8638297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Plan: the image half of CLIP on the UGen300; the PC keeps the r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4763" y="1554480"/>
            <a:ext cx="8491993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34763" y="5733288"/>
            <a:ext cx="8491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Demo PC: Windows 11, RTX 4080. UGen300 supports Windows, Linux and Android (no macOS listed); on a Mac SceneGap runs on CPU only. Before the device replaces the PC model it must pass five G1 checks against the PC (appendix A1).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On a desktop, analysis already costs 2.3–3.1 s per minute; UGen300's value is a hypothesis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798572"/>
                <a:gridCol w="2697858"/>
                <a:gridCol w="2518001"/>
                <a:gridCol w="2338143"/>
                <a:gridCol w="1528786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 (DECODE + MODEL)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SEARCH, TYPICAL / SLOWEST 5% (10K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desktop CPU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cuda-reference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GeForce RTX 4080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Stage II test: an editing app alone, then with CPU, GPU or UGen300 analysis — dropped frames, CPU/GPU load, power and index time.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≤1280 px), interference.json. Playing a 1080p30 test pattern while analysing: 0 of 1,800 frames late (slowest 5%: 5.7 ms idle, 7.5 ms CPU, 6.2 ms GPU).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Engineering: 46 automated tests; 30 of 36 acceptance cases pass by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ENGINEERING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The other 6: two need a UGen300, one needs an object detector, three are measured, proxy or manual.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all 46 tests; Dockerfile and CI included; Apache-2.0.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Who pays: small crews and freelance editors who shoot on location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597144"/>
                <a:gridCol w="314750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 (2025)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32,600; 35% self-employed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(May 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yr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small crew (estimate)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(TW); $800–1,500 (US)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quotes; rate cards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 (estimate, partly verified)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practice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tick off shots and schedule pickup shots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StudioBinder guide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Value per project = hours saved × hourly cost + expected reshoot cost avoided − tool cost. Hours include setup, import, waiting and review; unmeasured until the user study.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dates, verified flags).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Open core; customers pay for a tested bundle and templates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Prices are hypotheses to test in interviews. Benchmarks: Resolve Studio $295 and Final Cut Pro $299.99 one-time; UGen300 reported at $299.99.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Free: Apache-2.0 core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Anyone can run, audit and extend the checker on CPU or GPU. Trust matters when footage never leaves the machine.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Paid: UGen300 bundle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Signed installer, tested driver and runtime versions, the device-checked model, and support. Sold with or for the accelerator.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Paid: shot-list templates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Per genre (café, product, event, wedding) with tested queries and rules; yearly updates.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Temp\neo-42lqli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86868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9D6"/>
                </a:solidFill>
              </a:rPr>
              <a:t>SceneGap Edge · a review assistant that keeps evidence and a person's decision for every shot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7947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Shown: shot list → candidate clips with evidence → a person's decision → reshoot list → re-check, on real footage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Proof 1, the rules: more controlled cases, human-checked labels on the original video, ranking by peak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Proof 2, people: 3–5 interviews, then crews checking a card by hand vs with SceneGap (time, misses, wrong reshoots)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Proof 3, the UGen300: G1 checks on the device, then editing-app load with and without it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five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079143"/>
                <a:gridCol w="4496430"/>
                <a:gridCol w="2877715"/>
                <a:gridCol w="2428072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(self-check)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shown in this deck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Screenshots and cover frames come from these 9 clips. All 44 clips used in the evaluation, with links: docs/CREDITS.md in the repository.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2026-10-26T15:13:50Z</dcterms:created>
  <dcterms:modified xsi:type="dcterms:W3CDTF">2026-10-26T15:13:50Z</dcterms:modified>
</cp:coreProperties>
</file>