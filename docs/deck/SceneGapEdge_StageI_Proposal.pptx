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6f085e8a-12d4-c436-4b6c-41c604d3908c}">
          <p14:sldIdLst>
            <p14:sldId id="257"/>
            <p14:sldId id="258"/>
          </p14:sldIdLst>
        </p14:section>
        <p14:section name="Solution" id="{84d295fb-fe41-90ce-4085-cb17c314c8df}">
          <p14:sldIdLst>
            <p14:sldId id="259"/>
            <p14:sldId id="260"/>
            <p14:sldId id="261"/>
            <p14:sldId id="262"/>
            <p14:sldId id="263"/>
          </p14:sldIdLst>
        </p14:section>
        <p14:section name="Hardware" id="{46b69731-a644-1e32-8a0f-153ce8c651ae}">
          <p14:sldIdLst>
            <p14:sldId id="264"/>
            <p14:sldId id="265"/>
          </p14:sldIdLst>
        </p14:section>
        <p14:section name="Evidence" id="{cef0a6a7-2731-0dad-39fa-83a269c89a57}">
          <p14:sldIdLst>
            <p14:sldId id="266"/>
            <p14:sldId id="267"/>
            <p14:sldId id="268"/>
            <p14:sldId id="269"/>
            <p14:sldId id="270"/>
          </p14:sldIdLst>
        </p14:section>
        <p14:section name="Engineering" id="{f25ab926-e817-018c-a95e-a734bf270b21}">
          <p14:sldIdLst>
            <p14:sldId id="271"/>
          </p14:sldIdLst>
        </p14:section>
        <p14:section name="Business" id="{839768b9-f90c-0020-b59d-d1488e1b62a4}">
          <p14:sldIdLst>
            <p14:sldId id="272"/>
            <p14:sldId id="273"/>
          </p14:sldIdLst>
        </p14:section>
        <p14:section name="Plan" id="{4f71cf53-2038-6d3c-16d3-00dd8974d4ab}">
          <p14:sldIdLst>
            <p14:sldId id="274"/>
            <p14:sldId id="275"/>
            <p14:sldId id="276"/>
          </p14:sldIdLst>
        </p14:section>
        <p14:section name="Appendix" id="{3ef54d83-1dbd-7204-d562-731609f5f5f4}">
          <p14:sldIdLst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a shot-list checker, not another footage search. Everything measured is on a desktop CPU/GPU reference; UGen300 numbers are not run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Illustrative scenario built from PRD ch.4 user tasks; not an interview. The user study is Stage II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split: the image tower is the repeated per-frame cost; the text tower runs once per query. Same checkpoint keeps the pair compatible.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Annotators are separate AI sessions reading contact sheets, not people watching video; stated as a limitation.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3" name="Image 0" descr="C:\Users\yu9br\AppData\Local\Temp\neo-JM5AXu\a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Know which must-have shots you already have, and which to reshoot, before the crew leaves the location.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640080" y="434340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34340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Local-first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03120" y="4343400"/>
            <a:ext cx="26974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03120" y="4343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verdict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937760" y="434340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434340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Person confirms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84632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48463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Hailo-10H route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[Team name] · github.com/[team]/scenegap-edge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s. The brand on the bag is out of focus.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crew, café, client sign-off again.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Editors can now search footage; nobody checks the shot list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1438858"/>
                <a:gridCol w="1708643"/>
                <a:gridCol w="2158286"/>
                <a:gridCol w="1259000"/>
                <a:gridCol w="143885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SEARCHES FOOTAGE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RANGE IN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CHECKS DURATION / TAKES / SAME 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LOCALLY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~$22.99/mo (secondary)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visual: whole clips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likely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Studio $295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semantic 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(beta)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(cloud)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$25/member/mo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Jumper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from $49/mo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vs shot list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done/pending only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upload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listed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with 'unknown'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business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Search tells you where a cup appears. SceneGap tells you whether the 3-second pour you promised exists.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pages and trade press, accessed 2026-10-26; full list with URLs in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Requirement → constraint → evidence →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924812" y="2075688"/>
            <a:ext cx="8311896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32204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32204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Write the shot list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In Chinese, as the crew speaks. A person confirms the English query for the model and adds rules: min. length, takes, same-frame.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Host CPU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02836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02836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10712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93592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Index footage locally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Probe, hash, cut shots, sample 1 frame/s on the original timestamps. CLIP image embeddings.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593592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93592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UGen300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73468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73468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81344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64224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Check each rule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364224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Runs of matching samples inside one shot; conservative duration bounds; 250 ms re-sampling when undecided.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64224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64224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Host CPU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944100" y="1783080"/>
            <a:ext cx="585216" cy="585216"/>
          </a:xfrm>
          <a:prstGeom prst="ellipse">
            <a:avLst/>
          </a:prstGeom>
          <a:solidFill>
            <a:srgbClr val="6C4CF5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944100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951976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34856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Decide with evidence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134856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Candidate / partial / not found / unverifiable, each with playable clips. A person accepts; gaps become reshoot cards.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134856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34856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Host CPU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239512"/>
            <a:ext cx="108813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UGen300 box = planned route A; today the same model runs on the host CPU/GPU and is labelled cpu-/cuda-reference.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Four answers per shot, and a person has the last word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 AI's answer and the person's answer are stored separately; only the person's counts as done.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Candidate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Every rule passes on at least one segment. Still needs a person to accept.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Partial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Something matched but a rule failed or is undecided: too short, one take of two, a manual check left.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Not found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Nothing reached the threshold in the analysed scope. A reshoot card is proposed, with the nearest frames to check first.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Unverifiable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Files failed to decode or are missing, so absence cannot be claimed. Fix the scope first.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Human: accepted / rejected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Bound to the requirement revision. Edit the requirement and the old acceptance no longer counts.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Outdated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Requirement, footage, model or threshold changed since the run. The old verdict is hidden, not reused.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The coverage board a crew reads before leaving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The coverage board a crew reads before leav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Live app on 9 Wikimedia Commons clips after a CLIP run and a short human review. Frames are real footage.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Read in one pass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Each row: the shot, the AI's answer, the person's answer, the best clip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Coverage counts only shots a person confirmed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Filters: waiting for review, missing, done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verdict plays its evidence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Every verdict plays its evid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Latte-art clip accepted for 'coffee poured into a cup'; the espresso-only clip before it was rejected (no cup in frame).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One click per decision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Accept, reject, adjust range, send to reshoot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Filmstrip and range chips on the original timecode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Every decision is logged and can be undone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Original files are never touched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Gaps become a reshoot list before the crew leaves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Gaps become a reshoot list before the crew lea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Reshoot list from the same demo: grinder, someone drinking, and the coffee bag were not in the footage.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What the crew gets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The shot, why it is missing, the closest clip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Minimum length and how it will be checked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Status: to confirm → shooting → done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UGen300 takes the image encoder; the host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761611" y="1481328"/>
            <a:ext cx="8638297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UGen300 takes the image encoder; the host keeps the re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4763" y="1554480"/>
            <a:ext cx="8491993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34763" y="5733288"/>
            <a:ext cx="84919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Route A (ADR-002): CLIP ViT-B/32 image tower as Hailo's zoo HEF; text tower on the host with the same weights.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UGen300 plan: image encoder on the device, checked by a G1 gate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079143"/>
                <a:gridCol w="4496430"/>
                <a:gridCol w="2877715"/>
                <a:gridCol w="2428072"/>
              </a:tblGrid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not_run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not_run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not_run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Recall@5, each backend with its own 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fp32 − 3 pts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not_run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not_run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(self-check)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1.000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 without fooling ourselves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Protocol first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Metrics, split, threshold rule committed to git before any label existed.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Requirements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11 café-promo requirements and queries written before any frame was seen.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Two annotators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Independent labels on 1 fps contact sheets; a third pass on every disagreement.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Dev only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Threshold τ and crop policy chosen on dev clips, then frozen.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Test once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Held-out uploaders, scored once; the script refuses a second run.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Real footage, open licences, not shot by us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C:\Users\yu9br\AppData\Local\Temp\neo-JM5AXu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5669280" cy="2011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70332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6E2"/>
                </a:solidFill>
              </a:rPr>
              <a:t>Wikimedia Commons clips, 25 min, every licence and SHA-256 in the manifest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720840" y="1600200"/>
            <a:ext cx="4800600" cy="1325880"/>
          </a:xfrm>
          <a:prstGeom prst="roundRect">
            <a:avLst>
              <a:gd name="adj" fmla="val 9655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pic>
        <p:nvPicPr>
          <p:cNvPr id="8" name="Image 1" descr="C:\Users\yu9br\AppData\Local\Temp\neo-JM5AXu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865376"/>
            <a:ext cx="1737360" cy="7955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823960" y="1600200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6E2"/>
                </a:solidFill>
              </a:rPr>
              <a:t>Cohen's κ between the two annotators (sample level)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20840" y="3090672"/>
            <a:ext cx="4800600" cy="1325880"/>
          </a:xfrm>
          <a:prstGeom prst="roundRect">
            <a:avLst>
              <a:gd name="adj" fmla="val 9655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pic>
        <p:nvPicPr>
          <p:cNvPr id="11" name="Image 2" descr="C:\Users\yu9br\AppData\Local\Temp\neo-JM5AXu\a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3355848"/>
            <a:ext cx="1737360" cy="79552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823960" y="3090672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6E2"/>
                </a:solidFill>
              </a:rPr>
              <a:t>test / dev clips, split by uploader so no shoot is on both sides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720840" y="4581144"/>
            <a:ext cx="4800600" cy="1325880"/>
          </a:xfrm>
          <a:prstGeom prst="roundRect">
            <a:avLst>
              <a:gd name="adj" fmla="val 9655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pic>
        <p:nvPicPr>
          <p:cNvPr id="14" name="Image 3" descr="C:\Users\yu9br\AppData\Local\Temp\neo-JM5AXu\a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4846320"/>
            <a:ext cx="1737360" cy="79552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823960" y="4581144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6E2"/>
                </a:solidFill>
              </a:rPr>
              <a:t>requirements, incl. a co-occurrence and a manual brand check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48920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Licences: CC BY-SA 4.0 ×15, CC BY 3.0 ×9, CC0 ×8, CC BY-SA 3.0 ×4, PD ×3, CC BY 4.0 ×3, CC BY 2.0 ×2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On held-out footage, the right clip is in the top 5 for 7 of 11 shots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3327358"/>
                <a:gridCol w="3417287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 (SAME CLIP, SAME Τ)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RECALL@5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PRECISION@5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 match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95% CI 21–72%)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95% CI 20–57%)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semantic search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95% CI 43–90%)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(22/55, 95% CI 28–53%)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SceneGap: + duration, densify, same frame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95% CI 35–85%)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(18/55, 95% CI 22–46%)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26 held-out clips, scored once at 2026-10-26 19:22:51 with τ = 0.225 (center-crop).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eval/results/test_metrics.json; Wilson 95% intervals.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Finding missing shots automatically is the open problem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237429"/>
                <a:gridCol w="1798572"/>
                <a:gridCol w="1978429"/>
                <a:gridCol w="1618715"/>
                <a:gridCol w="22482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RECALL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 WHERE NONE EXISTS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 match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semantic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threshold was tuned for single frames, so almost every shot finds some candidate. On dev, a margin score finds 33% of gaps at 11% wrong reshoots; Stage II calibrates per shot.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eval/results/test_metrics.json; explore_dev_gap_tradeoff.json (dev only).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Analysis costs 2–3 s per minute of video; decoding, not the model, dominates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798572"/>
                <a:gridCol w="2697858"/>
                <a:gridCol w="2518001"/>
                <a:gridCol w="2338143"/>
                <a:gridCol w="1528786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 (DECODE + EMBED)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P50 / P95, 10K SEGMENTS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cpu-reference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desktop CPU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 s per minute of video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cuda-reference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GeForce RTX 4080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 s per minute of video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not_run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not_run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not_run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1080p30 playback while analysing: 0 late frames; frame work p95 none 5.72 ms / cpu 7.54 ms / cuda 6.24 ms (budget 33 ms).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eval/results/perf.json, interference.json.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Built to be checked: tests, trace, safety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ENGINEERING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46 automated tests; 30 of the PRD's 36 acceptance cases pass by test; a fresh-environment install passes the suite.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Three-valued AND/OR/NOT; two short pieces never add up; duplicates are not two takes; revisions void old decisions (409 on stale edits).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no traceback to the browser.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Fresh venv from the public index passes the suite; Dockerfile and CI included; Apache-2.0.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Who pays: small crews and freelance editors who shoot on location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3597144"/>
                <a:gridCol w="3147501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 (2025)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32,600; 35% self-employed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(May 2025)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yr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small crew (estimate)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(TW); $800–1,500 (US)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quotes; rate cards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 (partial)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practice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tick shots to schedule pickups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StudioBinder guide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Value per project ≈ review hours saved × rate + avoided reshoot day − setup and review time. Unproven until the Stage II user study.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dates, verified flags).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Pricing hypothesis: one-time licence, sold with the accelerator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All prices here are hypotheses to test in interviews (PRD 22.3), not a market claim. ASUS has not endorsed this product.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Perpetual licence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Local-first users dislike per-minute upload pricing. Benchmark: Resolve Studio $295, Final Cut $299.99 one-time.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With UGen300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UGen300 USB reported at $299.99 (CNX Software). A bundle adds a concrete creator workflow to a USB accelerator.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Template packs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Reusable shot-list templates per genre (café, product, event) with tuned queries; yearly updates.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Stage II: device, users, Chinese queries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G1 on a UGen300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Run the HEF image encoder; pass G1a–d or report the failure and stay on cpu-reference.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Speed with the device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Same clips, CPU vs GPU vs NPU; playback interference in a real NLE timeline.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manual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5–6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SigLIP2 multilingual on device; adopt only if within 3 pts of English Recall@5 on dev.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Hints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yolov8s person/object counts and OCR detection, each behind its own gate.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cpu-reference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False cut splits a long take → false 'too short'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Near-threshold cuts give UNKNOWN, not FAIL; the cut is shown in the viewer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τ fits some queries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per model fingerprint now; per query family next, calibrated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query drifts from the Chinese requirement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 confirms query_en; multilingual model only after its gate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annotators, Commons footage, small test split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Wide CIs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 checks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Temp\neo-JM5AXu\a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8686800" cy="1371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971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9D6"/>
                </a:solidFill>
              </a:rPr>
              <a:t>SceneGap Edge · local-first shot coverage for small crews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7947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Checks the shot list, not just the footage: length, takes, same frame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Finds the right clip in the top 5 for 7 of 11 shots on held-out footage; a person confirms in one click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Next: the image encoder on UGen300, per-shot thresholds for missing-shot detection, and a user study</a:t>
            </a:r>
            <a:endParaRPr lang="en-US" sz="15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Footage credits (1 of 3)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755430"/>
                <a:gridCol w="2967644"/>
                <a:gridCol w="161871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Cadaques cafe de la habana 2008 august converted YAN3.ogv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Cliché Online ( talk ) (Yan.)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Merry X-mas at Kranzler.webm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This video is a work by Wikipedia and Wi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Times Cafe inflatable waving character.webm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Andy Li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Rateel cafe music2.webm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Iainsimpsonstewart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Starbucks en la aĉetcentro Kristall (Tjumeno).webm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RG72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Interior Paragon Café Katoomba.ogv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Bluedawe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Operation Ghost Stories - Video 01.webm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FBI – Federal Bureau of Investigation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domain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Coffee Bean &amp; Tea Leaf Process.webm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Kelliks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“走线客”过境墨西哥 不忘来杯星巴克.webm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美国之音中文网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domain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Color sorter coffeebeans.webm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AlexanderKlink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Foto: Jonn Leffmann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Coffee from dan 2.webm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Denis kasozi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Traditional Ethiopian Coffee Roasting Ceremony.webm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Keria T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Footage credits (2 of 3)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755430"/>
                <a:gridCol w="2967644"/>
                <a:gridCol w="161871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Despulpadora.ogg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Jhonespe150102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Sunday Morning Espresso Routine - Grind + distribute + tamp 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Scott Schiller from San Francisco, CA, U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2.0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Кофемельница JURA 43.webm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Gontcharik.petr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Macro Espresso Process.webm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Scott Schiller from San Francisco, CA, U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2.0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Der perfekte Espresso aus dem Siebträger.ogv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Duchardt, Katrin Engel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Pour Over.ogv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Lev Lazinskiy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Use of a coffee press.ogv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Produced, directed and edited by Daniel 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Schritt für Schritt - Kaffeezubereitung mit der Chemex.ogv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Duchardt , Katrin Engel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leaf - 01.ogv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Nespresso machine.ogv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Kjetil Ree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man pours Arabic coffee.ogv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Sarah Canbel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Footage credits (3 of 3)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755430"/>
                <a:gridCol w="2967644"/>
                <a:gridCol w="161871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Servido tradicional de café etíope.webm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ProtoplasmaKid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How to brew Coffee using the laws of physics - with the Hari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Coffee Circle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Bosnian coffee with rahat lokum, Kujundziluk and Old Bridge 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Minja Klarić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cup of Kenyan Coffee.webm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Queen Asali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salute.webm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Unidentified. Released by the White Hous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domain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Turkish tea 2015.webm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Klapi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Jane pouring beer fast.webm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Angulidayaaluta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Turkovich Family Wines - June 2019 - Stierch 03.ogv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Missvain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Drinking glass symphony.ogv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IMG 4512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Thermochromic mug.webm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The wub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IrishTraditionalMusic-IrishPub-Tokyo-2016-2-24.webm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Nesnad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Couple holding hands.webm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https://www.youtube.com/user/Editor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[Team name]</dc:creator>
  <cp:lastModifiedBy>[Team name]</cp:lastModifiedBy>
  <cp:revision>1</cp:revision>
  <dcterms:created xsi:type="dcterms:W3CDTF">2026-10-26T11:44:54Z</dcterms:created>
  <dcterms:modified xsi:type="dcterms:W3CDTF">2026-10-26T11:44:54Z</dcterms:modified>
</cp:coreProperties>
</file>