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5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b3e313cf-ada3-f0a2-2252-b5b3baa993a3}">
          <p14:sldIdLst>
            <p14:sldId id="257"/>
            <p14:sldId id="258"/>
            <p14:sldId id="259"/>
          </p14:sldIdLst>
        </p14:section>
        <p14:section name="Solution" id="{d54644a3-57b9-f199-deaf-5d25d8483470}">
          <p14:sldIdLst>
            <p14:sldId id="260"/>
            <p14:sldId id="261"/>
            <p14:sldId id="262"/>
            <p14:sldId id="263"/>
          </p14:sldIdLst>
        </p14:section>
        <p14:section name="Evidence" id="{c0592c83-9723-37b2-7d85-f1b4685a2746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Hardware" id="{d03bb474-7ce8-0c25-393d-09b8b558ea7f}">
          <p14:sldIdLst>
            <p14:sldId id="271"/>
            <p14:sldId id="272"/>
          </p14:sldIdLst>
        </p14:section>
        <p14:section name="Business" id="{33b8808a-ef18-ca82-5e01-efdb8547134c}">
          <p14:sldIdLst>
            <p14:sldId id="273"/>
            <p14:sldId id="274"/>
          </p14:sldIdLst>
        </p14:section>
        <p14:section name="Plan" id="{363a4515-3ebe-4c1a-87af-3a185534e82c}">
          <p14:sldIdLst>
            <p14:sldId id="275"/>
          </p14:sldIdLst>
        </p14:section>
        <p14:section name="Appendix" id="{c84c5857-ac40-f090-173a-4d7b1c797ebf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Single-frame search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</c:v>
                </c:pt>
                <c:pt idx="1">
                  <c:v>4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4</c:v>
                </c:pt>
                <c:pt idx="8">
                  <c:v>2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SceneGap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3</c:v>
                </c:pt>
                <c:pt idx="5">
                  <c:v>1</c:v>
                </c:pt>
                <c:pt idx="6">
                  <c:v>0</c:v>
                </c:pt>
                <c:pt idx="7">
                  <c:v>4</c:v>
                </c:pt>
                <c:pt idx="8">
                  <c:v>1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missing caught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Test 2</c:v>
                  </c:pt>
                  <c:pt idx="1">
                    <c:v>Test 3</c:v>
                  </c:pt>
                  <c:pt idx="2">
                    <c:v>Test 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35</c:v>
                </c:pt>
                <c:pt idx="1">
                  <c:v>50</c:v>
                </c:pt>
                <c:pt idx="2">
                  <c:v>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wrong reshoot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Test 2</c:v>
                  </c:pt>
                  <c:pt idx="1">
                    <c:v>Test 3</c:v>
                  </c:pt>
                  <c:pt idx="2">
                    <c:v>Test 4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</c:v>
                </c:pt>
                <c:pt idx="1">
                  <c:v>12</c:v>
                </c:pt>
                <c:pt idx="2">
                  <c:v>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Decode + sample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2.07</c:v>
                </c:pt>
                <c:pt idx="1">
                  <c:v>2.08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 (CLIP image)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1.01</c:v>
                </c:pt>
                <c:pt idx="1">
                  <c:v>0.17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Openings per year</c:v>
                  </c:pt>
                  <c:pt idx="1">
                    <c:v>Self-employed (35%)</c:v>
                  </c:pt>
                  <c:pt idx="2">
                    <c:v>Editors + camera operators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5600</c:v>
                </c:pt>
                <c:pt idx="1">
                  <c:v>25200</c:v>
                </c:pt>
                <c:pt idx="2">
                  <c:v>72000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Jumper (from, *)</c:v>
                  </c:pt>
                  <c:pt idx="1">
                    <c:v>Frame.io Team</c:v>
                  </c:pt>
                  <c:pt idx="2">
                    <c:v>UGen300 (one-time)</c:v>
                  </c:pt>
                  <c:pt idx="3">
                    <c:v>Final Cut Pro (one-time)</c:v>
                  </c:pt>
                  <c:pt idx="4">
                    <c:v>Resolve Studio (one-time)</c:v>
                  </c:pt>
                  <c:pt idx="5">
                    <c:v>Premiere Pro (*)</c:v>
                  </c:pt>
                  <c:pt idx="6">
                    <c:v>Frame.io Pro</c:v>
                  </c:pt>
                  <c:pt idx="7">
                    <c:v>Apple Creator Studio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588</c:v>
                </c:pt>
                <c:pt idx="1">
                  <c:v>300</c:v>
                </c:pt>
                <c:pt idx="2">
                  <c:v>299.99</c:v>
                </c:pt>
                <c:pt idx="3">
                  <c:v>299.99</c:v>
                </c:pt>
                <c:pt idx="4">
                  <c:v>295</c:v>
                </c:pt>
                <c:pt idx="5">
                  <c:v>276</c:v>
                </c:pt>
                <c:pt idx="6">
                  <c:v>180</c:v>
                </c:pt>
                <c:pt idx="7">
                  <c:v>129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NEO_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NEO_VIOLE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118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VIOLE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Claude-Data\claude_pzs8sxrjxfjjc\scratch-workspaces\c862142c-bcba-48f7-a17f-6dc389d84d09\2507e86a-ea8c-427c-9ed4-55b4f6822600\scratch-2026-10-25-417d2c\decks\scenegap\img\cover_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9E5FF"/>
                </a:solidFill>
              </a:rPr>
              <a:t>CREATOR AI · LIGHTNING TRACK · ASUS UGEN300</a:t>
            </a:r>
            <a:endParaRPr lang="en-US" sz="1100" dirty="0"/>
          </a:p>
        </p:txBody>
      </p:sp>
      <p:pic>
        <p:nvPicPr>
          <p:cNvPr id="4" name="Image 1" descr="C:\Users\yu9br\AppData\Local\Temp\neo-q7AUwD\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2971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4F2FF"/>
                </a:solidFill>
              </a:rPr>
              <a:t>Helps a crew check the shot list against the footage before leaving the location, with playable evidence and a person's decision on every shot.</a:t>
            </a:r>
            <a:endParaRPr lang="en-US" sz="2000" dirty="0"/>
          </a:p>
        </p:txBody>
      </p:sp>
      <p:sp>
        <p:nvSpPr>
          <p:cNvPr id="6" name="Shape 2"/>
          <p:cNvSpPr/>
          <p:nvPr/>
        </p:nvSpPr>
        <p:spPr>
          <a:xfrm>
            <a:off x="6400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Runs on your own computer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33832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3832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 for every answer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484632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48463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person decides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560320" y="484632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560320" y="48463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UGen300 port planned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E5FF"/>
                </a:solidFill>
              </a:rPr>
              <a:t>Stage I proposal · rm-rf-1 · github.com/yu9bryan/scenegap-edge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missing shot is found at 23:00, after the café has closed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45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Illustrative scenario · two-person crew, café promo, 11 must-have shots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E9E5FF"/>
                </a:solidFill>
              </a:rPr>
              <a:t>“We had pours. None of them was three seconds long. We found out in the edit.”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029200" y="1600200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1600200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09:00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1600200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Shot list agreed with the client: storefront, interior, beans, grinder, 3 s pour, two barista takes, bag with readable brand.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0" y="2718054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718054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17:40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718054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Wrap. Several cards of footage; nobody has time to watch it all on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835908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57800" y="3835908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23:00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835908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The editor scrubs for the pour: every take cuts away after 2 s, and nobody filmed a customer drinking.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0" y="4953762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953762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Next week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953762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Reshoot day: NT$12,000–28,000 per crew-day in Taiwan, US$800–1,500 per videographer-day in the US, plus café and client again.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B8BA0"/>
                </a:solidFill>
              </a:rPr>
              <a:t>Day rates: PRO360 quote statistics (TW), Film Lifestyle mid-level rates (US); docs/research/BUSINESS_FACTS.md.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Existing tools find footage; SceneGap adds shot-list rules, evidence and reshoot tracking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057572"/>
                <a:gridCol w="2338143"/>
                <a:gridCol w="3237429"/>
                <a:gridCol w="22482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FINDS THE MOMENT IN A CLIP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SHOT-LIST RULES (LENGTH, TAKES, SAME FRAME)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LOCALLY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media intelligence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In/Out range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on device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DaVinci Resolve 21 IntelliSearch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search: whole clips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Cut Pro 12 visual 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invideo AI script supervisor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 / pending only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(upload)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original timecode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checked per rule; a person decides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The difference is the workflow around search: shot list → rules → evidence → a person's decision → reshoot list → re-check.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Vendor documentation, accessed 2026-10-26 (Adobe media intelligence FAQ and others). More tools and prices: A11.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works today, and what still needs proof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8"/>
                </a:solidFill>
              </a:rPr>
              <a:t>Shown today (live app, real footage)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Shot list in the crew's words, with rules: length, takes, same frame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Candidate clips with playable evidence on the original timecode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Rule checks: 10 of 12 controlled cases judged right (slide 12)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A person accepts, rejects, or adds the shot to the reshoot list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Demo: 9 Commons clips (5.9 min) analysed in 22 s on a desktop GPU; new footage re-checked file by file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</a:rPr>
              <a:t>Not shown yet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Missing shots on real café video: test 4 met both targets (65% caught, 3.8% wrong reshoots), but on still photos; test 3 video had 12% wrong (slide 15)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Time saved: no user study yet. Proxy: 317 s of candidate clips to play vs 839 s of footage (38%)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UGen300 speed and quality: not run on the device yet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Human-checked labels: current labels are AI-assisted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440680"/>
            <a:ext cx="0" cy="457200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5394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SceneGap Edge today is a review assistant that keeps evidence and a person's decision; automation grows only as it is proven.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From your shot list to a decision you can play back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1 · Write the shot list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In Chinese, as the crew speaks; a person checks the English search phrase and adds rules. Test list: 11 shots, each with a minimum length; 1 same-frame, 1 two-takes, 1 manual brand check.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614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8902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2 · Index footage locally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8902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Camera cuts, one frame per second on the original timecode, CLIP vectors. Desktop: 2.3 s per minute of video (GPU), 3.1 s (CPU). UGen300 next.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3 · Check each rule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Pass, fail or can't tell per rule; failing clips stay visible. Threshold τ 0.225 set on dev; search over 10,000 segments p95 14 ms.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3826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114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4 · A person decides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12114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Accept, reject with a reason, or add to the reshoot list. Only the person's decision counts as done; it is bound to the shot's version.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49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The AI's four answers (a person's decision is stored separately)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11480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0"/>
                <a:gridCol w="3017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ANSWER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 THE 26-CLIP TEST LIBRARY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rule passes on at least one clip; still needs a person to accept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Something matched but a rule failed or can't be decided (too short, one take of two, a manual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(SH-10, manual brand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files; not proof of absence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0; 30 of 38 missing shots still got 'candidate' (slide 15)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failed to decode or are missing, so absence cannot be claimed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Before leaving, the crew sees which shots are confirmed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110728" cy="4262496"/>
          </a:xfrm>
          <a:prstGeom prst="roundRect">
            <a:avLst>
              <a:gd name="adj" fmla="val 2145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001000" cy="41527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869680" y="1463040"/>
            <a:ext cx="2651760" cy="4251960"/>
          </a:xfrm>
          <a:prstGeom prst="roundRect">
            <a:avLst>
              <a:gd name="adj" fmla="val 482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05256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This demo project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052560" y="20116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9 Commons clips, 5.9 min, analysed in 22 s on a desktop GPU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AI candidate: 10 of 11 shots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Accepted by a person: 5 of 11 (SH-11 needs a second take)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Partial: SH-10 (manual brand check)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Reshoot list: grinder, drinking, coffee bag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Decisions entered as a scripted demo review, not timed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(Coverage page, cropped). Columns: shot · AI answer · person's decision · reason · clip.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Every answer plays its clip, and a person decides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7730295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ev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7620567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463040"/>
            <a:ext cx="2971800" cy="4343400"/>
          </a:xfrm>
          <a:prstGeom prst="roundRect">
            <a:avLst>
              <a:gd name="adj" fmla="val 430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16002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SH-05 on this screen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2011680"/>
            <a:ext cx="2606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Shot 「咖啡倒入杯中或拉花，連續 3 秒」 as committed before any frame was seen (eval/requirements.json, 10/26 18:09)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Filmstrip and clip ranges on the original timecode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Ranking score 0.314: orders clips, not a probability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Length check 24.0 s ≥ 3 s: how long frames stay close to the query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Log: espresso stream with no cup rejected with a reason; latte-art pour accepted; each can be undone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(clip view, cropped). Original files are never touched.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Shots without a usable clip go on the reshoot list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4856102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4746374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0" y="1463040"/>
            <a:ext cx="5120640" cy="4343400"/>
          </a:xfrm>
          <a:prstGeom prst="roundRect">
            <a:avLst>
              <a:gd name="adj" fmla="val 2947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0" y="1600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What the crew gets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201168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One card per shot: why it is missing, the closest clip, minimum length, how it will be checked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card shows the AI's rules passed; the person decided the clip shows tamping, not grinding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Status: to decide → reshoot → shooting → done / not reshooting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Video demo: the reshot clip was analysed alone in 2.5 s and the grinder shot left the list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demo review stopped at the top 3; the 4th candidate was a valid grinding clip (next page)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Fixed: the card now shows how many candidates a person checked (已檢查 3／5) and warns when some are unchecked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(reshoot list, SH-04 card). Export: CSV / HTML.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the model returns: top 5 per shot, checked against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659368" cy="4419251"/>
          </a:xfrm>
          <a:prstGeom prst="roundRect">
            <a:avLst>
              <a:gd name="adj" fmla="val 2069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top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549640" cy="430952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418320" y="1463040"/>
            <a:ext cx="2103120" cy="4389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0" y="1600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Read it as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601200" y="2011680"/>
            <a:ext cx="17373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SH-05: right clips are in the list, but #1 is wrong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SH-08: same-frame rule works here (4 of 5)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SH-04: the right clip is 4th; ranking by peak is the fix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SH-07: nothing to find, yet 5 clips pass: why missing shots go undetected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Demo project (9 clips); candidates and scores from the live app; right / wrong from eval/labels/gold.json (≥ 0.5 s overlap). decks/scenegap/fig_top5.py.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the length rule reads the model's scores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84362" cy="4453128"/>
          </a:xfrm>
          <a:prstGeom prst="roundRect">
            <a:avLst>
              <a:gd name="adj" fmla="val 205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74634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60920" y="1463040"/>
            <a:ext cx="4160520" cy="4389120"/>
          </a:xfrm>
          <a:prstGeom prst="roundRect">
            <a:avLst>
              <a:gd name="adj" fmla="val 307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3800" y="160020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What the curves show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543800" y="2011680"/>
            <a:ext cx="37947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Street frames score about 0.18; the pour about 0.33, well above τ 0.225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SceneGap samples 1 frame per second: a 4 s pour gives 4 samples, a lower bound of 3.0 s, so it passes the 3 s rule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2 s pour gives 1.0 s: too short, correctly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finished latte scores 0.30 with nothing poured: CLIP sees the result, not the action, so a person checks it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Stage II: denser sampling near the edges and an action check for pour-type shots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Rule-check cases cut from real Commons footage (eval/rule_check.py); similarity from the same CLIP model at 4 frames/s. decks/scenegap/fig_curves.py.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each rule actually measures, and what it cannot tell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528786"/>
                <a:gridCol w="3956858"/>
                <a:gridCol w="3597144"/>
                <a:gridCol w="17985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SCENEGAP MEASURES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CANNOT TELL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long frames stay close to the query inside one camera cut (lower and upper bound; re-check every 0.25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Whether the action itself lasts that long; the lower bound runs about 1 s short (4 s pour → 3.0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phrases above the threshold in the same sampled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is with whom; objects too small for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Distinct files, by content hash; duplicates of one file are one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re-encoded copy of the same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Readable brand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automatic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 text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 the shot was never filmed; failed files make it 'can't tell'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scope shown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Dense sampling gives more observations, not certainty: a clip that looks like pouring is still checked by a person.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Rule check: 10 of 12 right; both misses are false acceptances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406501"/>
                <a:gridCol w="989215"/>
                <a:gridCol w="2338143"/>
                <a:gridCol w="1169072"/>
                <a:gridCol w="989215"/>
                <a:gridCol w="719429"/>
              </a:tblGrid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(REAL COMMONS FOOTAGE, CUT TO A KNOWN ANSWER)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RUN (S)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/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continuous 4 s latte-art pour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6 s pour from a different shoot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pour lasts only 2 s (rule: 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two 2 s pours split by another shot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finished latte, nothing is poured (5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 at a café table,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but outdoors (not in a café)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then a café interior: separate shots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one barista clip (rule: 2 takes)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copied byte for byte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re-encoded (still one take)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two different barista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Open: an action check (a finished latte passes as 'pouring') and re-encoded-take dedup. Such passes stay 'candidate, a person confirms', never done. eval/rule_check.py, frozen threshold.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we tested: fixed protocol, open footage, AI-assisted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Protocol and the 11 shots committed before any label; threshold set on dev only; test scored once. Every file below is in the repo.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Footage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 Wikimedia Commons clips, 25.2 min, H.264 ≤ 1280 px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clips, 11.2 min: threshold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clips, 14.0 min: scored once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Distractors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of 44 clips contain none of the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Licences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 BY-SA 19, CC BY 14, CC0 8, public domain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note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author pair crosses (022 dev, 025 test); without the 2 projects holding 025, SceneGap still catches 0/31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Labels</a:t>
            </a:r>
            <a:endParaRPr lang="en-US" sz="13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Labellers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independent AI sessions on 1 fps sheets; an AI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472/484 clip × shot pairs (97.5%); κ 0.914 over 16,687 frame samples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 disputed frame labels decided with 9 written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Consistency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 of 238 agreed positives removed after labelling (65 were SH-11)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Lenient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restoring them leaves SceneGap unchanged (7/11, 18/55)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0.225: dev F1 0.240, frame precision 14.4%, recall 71.8%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Simulated projects reuse the same clips, so they are not independent shoots. Human-checked labels on the original video come next; details in A5–A7.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Right clip in the top 5 for 7 of 11 shots; plain frame search found 8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5669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17373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 CLIP IN TOP 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PICKS RIGHT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 (whole clips)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 (5/11, CI 21–72%)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 (8/22, &lt; 5 returned)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search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 (8/11, CI 43–90%)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 (22/55)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SceneGap, ranked after rule checks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 (7/11, CI 35–85%)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 (18/55)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474720"/>
            <a:ext cx="5669280" cy="2011680"/>
          </a:xfrm>
          <a:prstGeom prst="roundRect">
            <a:avLst>
              <a:gd name="adj" fmla="val 636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Why one hit was lost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2336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Lost SH-03 and SH-04, gained SH-06.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Clip 019 is the right answer for both. On its own it passes every rule (5 s and 19 s runs): the rules did not reject it.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Runs are ranked by average similarity; single-frame search uses the peak frame. Stage II ranks by peak.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hit needs 0.5 s overlap, so this layer does not test the length rule (slide 12 does).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Correct clips in the top 5, per shot (of 5)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83680" y="1828800"/>
          <a:ext cx="4937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26 held-out clips, 14.0 min, scored once at τ 0.225; Wilson 95% intervals. SH-03 and SH-07 each rest on one 3 s gold clip. Per shot: A5.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Missing shots: on test 4 the check layer catches 65% at 3.8% wrong reshoots; both targets met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Each test set scored once; targets: caught ≥ 30%, wrong reshoot ≤ 5%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1188720"/>
                <a:gridCol w="1188720"/>
              </a:tblGrid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1 (Oct 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 alone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0/38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0/50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2: 24 new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of the top 3 candidates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32/91 (35%)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3/41 (7.3%)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3: 39 new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of every second (frozen)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76/152 (50%)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8/68 (12%)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3, post hoc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a person looks at 3 frames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76/152 (50%)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2/68 (2.9%)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4: 150 new photo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check, frozen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146/226 (65%)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4/104 (3.8%)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4, preregistered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a person looks at 3 frames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146/226 (65%)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0/104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206240"/>
            <a:ext cx="6949440" cy="128016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3434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How: Qwen2-VL-2B answers each shot's check question ('Is ground coffee coming out of a grinder?') for every 1 s frame; 2 confirmed seconds in a row = present.</a:t>
            </a:r>
            <a:endParaRPr lang="en-US" sz="9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Test 3's 8 wrong reshoots were borderline frames, so each alert shows the 3 most likely frames; test 4 then scored that look as a preregistered metric.</a:t>
            </a:r>
            <a:endParaRPr lang="en-US" sz="9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Test 4 is Commons photos as 4 s clips: fresh images, but no motion or cuts. Upper 95% bound on wrong reshoots: 9.5%.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New footage, % of shots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863840" y="1828800"/>
          <a:ext cx="36576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Labels: two AI passes and a blind third (κ 0.93–0.98), not yet checked by people. Next: real café video and a timed user test.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Unit: one shot in one simulated 8-clip project. eval/PROTOCOL.md (Stage 1.5–1.7); eval/verify16.py; eval/verify16_evidence.py; A8.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Plan: the image half of CLIP on the UGen300; the PC keeps the rest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10528" cy="3176778"/>
          </a:xfrm>
          <a:prstGeom prst="roundRect">
            <a:avLst>
              <a:gd name="adj" fmla="val 28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00800" cy="30670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0" y="1463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ASUS UGen300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performance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TOPS INT4 / 20 TOPS INT8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GB LPDDR4, 4266 MT/s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3.1 Gen2 Type-C, 10 Gbps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/ size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 W typical; 105 × 50 × 18 mm, 150 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Windows, Linux, Android (no macOS listed)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USB 8 GB (reported)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ViT-B/32 image encoder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at batch 1 / 8 (Hailo zoo,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40080" y="4983480"/>
            <a:ext cx="6400800" cy="868680"/>
          </a:xfrm>
          <a:prstGeom prst="roundRect">
            <a:avLst>
              <a:gd name="adj" fmla="val 1473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512064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</a:rPr>
              <a:t>Second device job: the missing-shot verifier, Qwen2-VL-2B, which Hailo lists for Hailo-10H (slide 15). Frames over USB: about 9 MB per minute (estimate). Both models must pass G1-style checks against the PC first (A1). Demo PC: Windows 11, RTX 4080; Mac: CPU only.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§2 (ASUS spec; price reported by CNX Software), MODEL_PLAN.md §2, §6; Hailo Model Zoo measures over PCIe, not USB.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Measured: decoding is 2.1 of the 2.3 s per minute; a UGen300 would free the GPU or a laptop CPU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Seconds per minute of video (desktop)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0" y="14630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Model and search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2880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09728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SPEED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LOAD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P50 / P95 (10,000 SEGMENTS)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 / 14.29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RTX 4080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7.61 / 13.39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(vendor)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(batch 1 / 8,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669280" y="36576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Playing a 1080p30 test pattern while analysing (budget 33.3 ms)</a:t>
            </a:r>
            <a:endParaRPr lang="en-US" sz="13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40233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463040"/>
                <a:gridCol w="15544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 FRAMES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WORK P95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ANALYSES FINISHED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The model is 32% of the CPU run and 7% of the GPU run. Stage II measures an editing app alone vs with CPU, GPU or UGen300 analysis.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eval/results/perf.json (six short clips, 85 s, ≤ 1280 px, warm model; import and hashing not timed), interference.json (synthetic test pattern, not an editing app).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Sourced: who pays first is 1–3 person crews and freelance editors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US floor (BLS OOH, 2025)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8463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76072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Segments (PRD 4.1)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 SIGNAL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HOLD TRUE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 person crews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11,400 self-employed US camera operators; TW crew-day NT$12,000–28,000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they write a shot list and carry a computer on site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Freelance editors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13,800 self-employed US editors; median $75,420/yr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briefs are specific; a pickup can still be arranged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Student teams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data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 check a little by hand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 content producers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 of businesses use video (Wyzowl 2026, partial)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 stay stable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760720" y="4709160"/>
            <a:ext cx="5760720" cy="731520"/>
          </a:xfrm>
          <a:prstGeom prst="roundRect">
            <a:avLst>
              <a:gd name="adj" fmla="val 175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943600" y="4846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</a:rPr>
              <a:t>BLS is a floor: it leaves out YouTubers and in-house marketing staff. Worldwide, ~50M creators and ~4% professional (Goldman Sachs, partly verified).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US BLS OOH accessed 2026-10-26 (39,400 editors + 32,600 camera operators; 35% self-employed; ~5,600 openings a year); self-employed split is our arithmetic. Day rates per videographer.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Hypothesis: one prevented reshoot could offset the device cost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Value = hours saved × hourly cost + reshoot avoided − tool cost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126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1737360"/>
              </a:tblGrid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USED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Hourly cost, editor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$36.26/h = $75,420 ÷ 2,080 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sourced; 2,080 h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US, 2 people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$1,600–3,000 = 2 × $800–1,500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 rates; crew of 2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Taiwan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 per crew-day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quote statistics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cost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UGen300; core software free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reported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Hours saved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 (proxy: 38% of footage to play)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study,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Reshoots avoided per project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interviews,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8" name="Image 0" descr="C:\Users\yu9br\AppData\Local\Temp\neo-q7AUwD\a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480560"/>
            <a:ext cx="2377440" cy="5257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editor time pays for the device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377190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11" name="Image 1" descr="C:\Users\yu9br\AppData\Local\Temp\neo-q7AUwD\a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060" y="4480560"/>
            <a:ext cx="2377440" cy="5257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90906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one US two-person reshoot day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7040880" y="14630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Price per seat, USD per year or one-time</a:t>
            </a:r>
            <a:endParaRPr lang="en-US" sz="13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040880" y="1828800"/>
          <a:ext cx="44805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Shape 9"/>
          <p:cNvSpPr/>
          <p:nvPr/>
        </p:nvSpPr>
        <p:spPr>
          <a:xfrm>
            <a:off x="7040880" y="4617720"/>
            <a:ext cx="4480560" cy="822960"/>
          </a:xfrm>
          <a:prstGeom prst="roundRect">
            <a:avLst>
              <a:gd name="adj" fmla="val 1555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7223760" y="47548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Open core: the Apache-2.0 checker is free. Paid: a tested UGen300 bundle (installer, driver versions, device-checked model, support) and shot-list templates. Axle FOCUS: $2,995+/yr.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Device price only: the on-site computer, setup, upkeep and the person's time are extra. Test it: two groups check one card, by hand vs with SceneGap.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§1c, §2, §4; * vendor page not readable at access. Yearly = 12 × monthly list price.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Shown today, proven next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PLAN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SceneGap Edge today: shot list → candidate clips with evidence → a person's decision → reshoot list → re-check, on real footage.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566160"/>
                <a:gridCol w="3931920"/>
                <a:gridCol w="1920240"/>
              </a:tblGrid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II TARGET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12 controlled cases; top 5 right for 7/11; missing shots: test 4 caught 65% at 3.8% wrong reshoots (0% after a 3-frame look; photo clips)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Recall@5 ≥ 90% and wrong reshoot ≤ 5% in the supported scope; ranking by peak; per-shot thresholds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21.5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AI-assisted, κ 0.91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labels sampled pairs on the original video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People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study; proxy 38% of footage to play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3–5 interviews, then 8–12 crews; median task time −30%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22.1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· UGen300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run; PC harness cos 1.0000, ρ 0.99999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 cos ≥ 0.98, G1b ρ ≥ 0.95, G1e status ≥ 90%; USB speed, power, editing-app load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MODEL_PLAN §4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· 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p95 13–14 ms; 2.3 s per minute (GPU)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result for a 60 s clip ≤ 45 s, timed end to end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NFR-05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· Software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automated tests; 30 of 36 acceptance cases pass; clean rebuild passes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device and user cases (TC-017, 018, 033, 034)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A9, A12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Fewer surprises in the edit: a reshoot list made before the crew leaves, with the evidence a person checked.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 · G1: six checks before the UGen300 replaces the PC model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989215"/>
                <a:gridCol w="4586358"/>
                <a:gridCol w="3057572"/>
                <a:gridCol w="2248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(DEV FRAMES, SAME PREPROCESSING)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BAR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Cosine, HEF vs fp32 embedding, per frame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0.98, p5 ≥ 0.95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ρ of similarity per query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0.95, worst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/ top-10 shot overlap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0.80 /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Hit@5, each backend with its own 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dev shot lost vs fp32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 on the dev project simulation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 same status; no new 'candidate' on a true gap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Frames/s over USB, 60 s clip end to 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reported, no bar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Harness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script, CPU vs CUDA fp32 (662 frames, 13 queries; plan ≥ 2,000 / ≥ 40)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1.0 expected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 1.0000, ρ 0.99999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Vendor: Hailo-10H ViT-B/32 image encoder, CIFAR-100 zero-shot 65.3 float → 64.5 on chip (PCIe, not USB).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docs/MODEL_PLAN.md §2, §4; eval/results/g1_selfcheck.json; Hailo Model Zoo (vendor figures).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A1b · After G1: product-level checks on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136715"/>
                <a:gridCol w="4406501"/>
                <a:gridCol w="233814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PROTECTS AGAINST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agreement, UGen300 vs PC, on dev projects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quantisation causing more false acceptances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end-to-end analysis time for a 60 s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device that is fast in the zoo but slow over USB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Editing-app playback and scrubbing with analysis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claiming host relief without measuring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Whole-system extra power (meter at the wall)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quoting 2.5 W as the system's cost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shots caught and wrong reshoots on new footage, verifier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product effect, not just matching vectors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Model agreement (G1) is necessary, not sufficient: the product effect is measured on new footage.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A2 · What could break, and what we do then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676287"/>
                <a:gridCol w="620507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HEF fails G1 (quantisation hurts ranking)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Recalibrate with dev frames; TinyCLIP; else ship the CPU/GPU version and say so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borderline camera cut splits a long take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length check says 'can't tell', not 'too short'; the cut is shown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global threshold fits some shots badly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threshold per model version now; per type of shot next, set on dev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English phrase drifts from the Chinese shot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checks the phrase; a multilingual model only after its own check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 labels, Commons footage, small test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Intervals shown; Stage II adds human labels and self-shot projects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will not write shot lists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Templates; the interviews check this first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A3 · Stage II order: rules and people first, then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1–2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Rules and labels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More controlled cases; a person labels sampled pairs on the original video; rank runs by peak.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2–3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Missing shots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Per-shot thresholds with a project-level target; preregister, score once on new footage.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3–5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User study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3–5 interviews, then 8–12 crews: by hand vs SceneGap, counterbalanced; time, misses, wrong reshoots.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4–6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UGen300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G1 on the device; editing-app load with CPU, GPU or UGen300 analysis.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6+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Chinese queries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A multilingual model (SigLIP 2), adopted only if it finds as many dev shots.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A4 · Footage shown in this deck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Vichy - Grand Café, terrasse sous la grêle.ogv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Romainbehar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Café Lomi, Paris - Vimeo.webm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ideafarm films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Kaffe - Ystad-2024.ogg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Jonn Leffmann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Lions Almelo zamelt koffie in voor Voedselbank.webm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AAVISIE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MoliendoCafeEnLicuadora ohs02.webm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PetrohsW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Espresso video.ogv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Rosatrieu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flower - 01.ogv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Sugar falling into coffee.webm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Anselm Schüler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Empty Streets of Paris COVID19.webm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CreatorsCloud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Screenshots and cover frames come from these clips. All 44 clips used in the evaluation, with links: docs/CREDITS.md.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A5 · The 11 shots and per-shot results (correct / returned, top 5)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719429"/>
                <a:gridCol w="2338143"/>
                <a:gridCol w="1888500"/>
                <a:gridCol w="1528786"/>
                <a:gridCol w="1079143"/>
                <a:gridCol w="1169072"/>
                <a:gridCol w="989215"/>
                <a:gridCol w="1169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ENGLISH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CLIPS WITH GOLD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KEYWORDS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IN PROJECTS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Storefront from the street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(36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1/2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Café interior, tables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(39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Coffee-bean close-up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Grinding beans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(18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 or latte art poured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(48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Cup of coffee on a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(46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Someone drinking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people,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(56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Espresso extraction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(30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2/3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Bean bag, brand readable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 s, brand (manual)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(74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eval/requirements.json, eval/labels/gold.json, eval/results/test_metrics.json. ✓ = a correct clip in the top 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A6 · Labels: agreement, third pass and the consistency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Agreement between the two AI annotators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× shot pairs agreeing (IoU ≥ 0.5 or both empty)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 / 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samples (1 fps × 11 shots)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positive / A only / B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 / 46 / 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Observed agreement / Cohen's κ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99.1% / 0.914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Disputed labels to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1792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Consistency pass (added after labelling, before calibration)</a:t>
            </a:r>
            <a:endParaRPr lang="en-US" sz="13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18872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AGREED POSITIVES CHECKED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217920" y="3931920"/>
            <a:ext cx="5303520" cy="1463040"/>
          </a:xfrm>
          <a:prstGeom prst="roundRect">
            <a:avLst>
              <a:gd name="adj" fmla="val 875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Rules the third pass wrote (examples)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6400800" y="44805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R3 barista: commercial setting, actively preparing coffee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R5 anything poured into the cup → SH-05, not SH-06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R8 grinding: grounds visibly come out of the spout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Only removals were possible; restoring all 78 leaves SceneGap's numbers unchanged (lenient labels, A7).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eval/labels/agreement.json, consistency.json, adjudication_rules.json.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A7 · Threshold on dev; lenient labels on test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Dev sweep (7,282 frame × shot pairs, 432 positive)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872836"/>
                <a:gridCol w="785553"/>
                <a:gridCol w="872836"/>
                <a:gridCol w="785553"/>
                <a:gridCol w="872836"/>
                <a:gridCol w="785553"/>
                <a:gridCol w="785553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0.2085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2,374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2,160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1,992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1,671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67512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Test, with the 78 removed labels restored</a:t>
            </a:r>
            <a:endParaRPr lang="en-US" sz="130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HIT@5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6/11 (55%)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9/22 (41%)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33/37 (89%)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8/11 (73%)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22/55 (40%)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7/11 (64%)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18/55 (33%)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3840480"/>
            <a:ext cx="4846320" cy="1645920"/>
          </a:xfrm>
          <a:prstGeom prst="roundRect">
            <a:avLst>
              <a:gd name="adj" fmla="val 77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0" y="397764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F1 is flat between 0.220 and 0.225; τ 0.225 chosen by the rule written before labels (ties go higher).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Precision stays at 12–15% across the range: no single threshold separates shots well frame by frame.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Centre crop beat padding by 0.0035 F1 (center-crop 0.2404, pad-square 0.2369).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eval/results/calibration.json, test_metrics.json (sensitivity_lenient_gold).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A8 · Missing-shot trade-off on dev (not used to rescore)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38143"/>
                <a:gridCol w="1438858"/>
                <a:gridCol w="2338143"/>
                <a:gridCol w="2338143"/>
                <a:gridCol w="2428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'FOUND' WHEN ABSENT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5/89 (6%)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80/89 (90%)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13/89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71/89 (80%)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24/89 (27%)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65/89 (73%)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32/89 (36%)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22/131 (17%)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49/89 (55%)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41/89 (46%)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40/131 (31%)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46/89 (52%)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62/131 (47%)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6/89 (7%)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76/89 (85%)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11/89 (12%)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70/89 (79%)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16/89 (18%)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66/89 (74%)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29/89 (33%)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30/89 (34%)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eval/results/explore_dev_gap_tradeoff.json: 20 dev projects × 8 clips. Margin = similarity minus the best of 6 generic prompts.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A9 · Acceptance cases: 30 of 36 pass by automated check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978429"/>
                <a:gridCol w="899286"/>
                <a:gridCol w="800364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CASES (TC-)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001, 002, 003, 004, 005, 006, 007, 008, 009, 010, 011, 012, 013, 014, 016, 019, 020, 021, 022, 023, 024, 025, 026, 027, 028, 029, 030, 031, 035, 036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applicable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proxy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check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48 automated tests; TC-035 is the clean rebuild from the public package index.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(each case with the test that covers it), clean_env.json.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A10 · Hailo-10H model zoo: options for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877715"/>
                <a:gridCol w="2877715"/>
                <a:gridCol w="1618715"/>
                <a:gridCol w="3507215"/>
              </a:tblGrid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(HEF)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ACCURACY, FLOAT → ON CHIP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FPS BATCH 1 / 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clip_vit_b_32_image_encoder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CIFAR-100 zero-shot 65.3 → 64.5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same OpenAI weights as the PC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clip_vit_b_32_text_encoder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Retrieval@10 90.6 → 89.3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48.9 / 98.8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planned: text stays on the PC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tinyclip_vit_61m_32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72.8 → 69.8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 / 388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 if G1 fails (new threshold)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siglip2_b_32_256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74.7 → 70.4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64.7 / 221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multilingual option for Chinese shot lists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clip_vit_b_16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68.6 → 64.6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51.5 / 158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finer detail, slower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Qwen2-VL-2B-Instruct (VLM)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listed for Hailo-10H (GenAI zoo)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vendor page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the missing-shot verifier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At batch 8 the vendor figure (350 FPS) is close to the RTX 4080 we measured (365 frames/s); the device's case is freeing the host, not raw speed.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Hailo Model Zoo, Hailo-10H, PCIe Gen3 ×4 host (not USB); docs/MODEL_PLAN.md §2.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A11 · Market and price sources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057572"/>
                <a:gridCol w="2967644"/>
                <a:gridCol w="3237429"/>
                <a:gridCol w="1618715"/>
              </a:tblGrid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film and video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39,400 / 32,600 (2025); 35% self-employed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OOH, accessed 2026-10-26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pay,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$75,420 / $74,990 (May 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rate, mid-level videographer (US)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$800–1,500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Film Lifestyle rate guide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video, full day (Taiwan)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PRO360 quote statistics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USB 8 GB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(M.2 $259.99)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CNX Software; ASUS spec page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single app / Jumper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$22.99/mo / from $49/mo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Adobe checkout excerpt / Jumper site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/ 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 Studio / Final Cut Pro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 / $299.99 one-time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Blackmagic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Pro / Team; Creator Studio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 / $25 per member per month; $129/yr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Axle AI FOCUS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$2,995–28,995 per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 press (IBC 2026)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Creators worldwide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~50M, ~4% professional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Goldman Sachs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docs/research/BUSINESS_FACTS.md (URLs, access dates and verified flags for every row).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A12 · Engineering: 48 tests; 30 of 36 acceptance cases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These show the software is reliable, not that the AI is accurate. Other 6: 1 not applicable, 1 not run, 1 partial, 1 measured, 1 proxy, 1 manual check (needs a UGen300, a detector, or users).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Media edge cases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Rotation, 29.97 fps, VFR, start offsets, corrupt and unsupported codecs, files still copying, moved files found again by hash.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Logic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'Can't tell' stays 'can't tell'; two short clips never count as one long one; duplicates are not two takes; editing a shot voids old decisions.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Security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127.0.0.1 only, per-run token, Origin + Host checks, authorised folders, CSV formula guard, escaped HTML, errors never expose internals.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Offline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Core flow tested with outbound sockets blocked. Footage never leaves the computer.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Failure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Disk full stops safely and resumes; interrupted jobs resume; originals' hashes unchanged.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Rebuild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A fresh venv from the public index passes the test suite; Dockerfile and CI included; Apache-2.0.</a:t>
            </a:r>
            <a:endParaRPr lang="en-US" sz="1250" dirty="0"/>
          </a:p>
        </p:txBody>
      </p:sp>
      <p:sp>
        <p:nvSpPr>
          <p:cNvPr id="36" name="Text 2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lists all 36 cases with the test that covers each (A9).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eneGap Edge · Stage I">
  <a:themeElements>
    <a:clrScheme name="SceneGap Edge · Stage I">
      <a:dk1>
        <a:srgbClr val="111118"/>
      </a:dk1>
      <a:lt1>
        <a:srgbClr val="FFFFFF"/>
      </a:lt1>
      <a:dk2>
        <a:srgbClr val="0B0B12"/>
      </a:dk2>
      <a:lt2>
        <a:srgbClr val="F3F1FF"/>
      </a:lt2>
      <a:accent1>
        <a:srgbClr val="6C4CF5"/>
      </a:accent1>
      <a:accent2>
        <a:srgbClr val="22D3EE"/>
      </a:accent2>
      <a:accent3>
        <a:srgbClr val="8B78FF"/>
      </a:accent3>
      <a:accent4>
        <a:srgbClr val="A78BFA"/>
      </a:accent4>
      <a:accent5>
        <a:srgbClr val="0EA5E9"/>
      </a:accent5>
      <a:accent6>
        <a:srgbClr val="6B7280"/>
      </a:accent6>
      <a:hlink>
        <a:srgbClr val="6C4CF5"/>
      </a:hlink>
      <a:folHlink>
        <a:srgbClr val="8B78FF"/>
      </a:folHlink>
    </a:clrScheme>
    <a:fontScheme name="SceneGap Edge · Stage 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SceneGap Edge – Stage I proposal</dc:title>
  <dc:subject>PptxGenJS Presentation</dc:subject>
  <dc:creator>rm-rf-1</dc:creator>
  <cp:lastModifiedBy>rm-rf-1</cp:lastModifiedBy>
  <cp:revision>1</cp:revision>
  <dcterms:created xsi:type="dcterms:W3CDTF">2026-10-27T17:31:35Z</dcterms:created>
  <dcterms:modified xsi:type="dcterms:W3CDTF">2026-10-27T17:31:35Z</dcterms:modified>
</cp:coreProperties>
</file>