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2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3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4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5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blem" id="{3d63a7dc-a76a-4aab-cdff-54eb752849ed}">
          <p14:sldIdLst>
            <p14:sldId id="257"/>
            <p14:sldId id="258"/>
            <p14:sldId id="259"/>
          </p14:sldIdLst>
        </p14:section>
        <p14:section name="Solution" id="{590d1518-f636-7566-a5a8-7aebc929c921}">
          <p14:sldIdLst>
            <p14:sldId id="260"/>
            <p14:sldId id="261"/>
            <p14:sldId id="262"/>
            <p14:sldId id="263"/>
          </p14:sldIdLst>
        </p14:section>
        <p14:section name="Evidence" id="{25f887f8-6c4f-b0ce-411e-25e743c45eb0}">
          <p14:sldIdLst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Hardware" id="{ffe27188-a269-e27b-f5ba-9c497d855f46}">
          <p14:sldIdLst>
            <p14:sldId id="271"/>
            <p14:sldId id="272"/>
          </p14:sldIdLst>
        </p14:section>
        <p14:section name="Business" id="{e12a41d1-af3d-1090-d624-052c0639bfff}">
          <p14:sldIdLst>
            <p14:sldId id="273"/>
            <p14:sldId id="274"/>
          </p14:sldIdLst>
        </p14:section>
        <p14:section name="Plan" id="{f315d0e5-aa05-43e6-dbf6-8f5c46f7f281}">
          <p14:sldIdLst>
            <p14:sldId id="275"/>
          </p14:sldIdLst>
        </p14:section>
        <p14:section name="Appendix" id="{d72b29cb-e1e2-0358-5231-d208dcf98b7c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Single-frame search</c:v>
                </c:pt>
              </c:strCache>
            </c:strRef>
          </c:tx>
          <c:spPr>
            <a:solidFill>
              <a:srgbClr val="A78BFA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1111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SH-01</c:v>
                  </c:pt>
                  <c:pt idx="1">
                    <c:v>SH-02</c:v>
                  </c:pt>
                  <c:pt idx="2">
                    <c:v>SH-03</c:v>
                  </c:pt>
                  <c:pt idx="3">
                    <c:v>SH-04</c:v>
                  </c:pt>
                  <c:pt idx="4">
                    <c:v>SH-05</c:v>
                  </c:pt>
                  <c:pt idx="5">
                    <c:v>SH-06</c:v>
                  </c:pt>
                  <c:pt idx="6">
                    <c:v>SH-07</c:v>
                  </c:pt>
                  <c:pt idx="7">
                    <c:v>SH-08</c:v>
                  </c:pt>
                  <c:pt idx="8">
                    <c:v>SH-09</c:v>
                  </c:pt>
                  <c:pt idx="9">
                    <c:v>SH-10</c:v>
                  </c:pt>
                  <c:pt idx="10">
                    <c:v>SH-11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3</c:v>
                </c:pt>
                <c:pt idx="1">
                  <c:v>4</c:v>
                </c:pt>
                <c:pt idx="2">
                  <c:v>1</c:v>
                </c:pt>
                <c:pt idx="3">
                  <c:v>1</c:v>
                </c:pt>
                <c:pt idx="4">
                  <c:v>2</c:v>
                </c:pt>
                <c:pt idx="5">
                  <c:v>0</c:v>
                </c:pt>
                <c:pt idx="6">
                  <c:v>0</c:v>
                </c:pt>
                <c:pt idx="7">
                  <c:v>4</c:v>
                </c:pt>
                <c:pt idx="8">
                  <c:v>2</c:v>
                </c:pt>
                <c:pt idx="9">
                  <c:v>0</c:v>
                </c:pt>
                <c:pt idx="10">
                  <c:v>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SceneGap</c:v>
                </c:pt>
              </c:strCache>
            </c:strRef>
          </c:tx>
          <c:spPr>
            <a:solidFill>
              <a:srgbClr val="6C4CF5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1111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SH-01</c:v>
                  </c:pt>
                  <c:pt idx="1">
                    <c:v>SH-02</c:v>
                  </c:pt>
                  <c:pt idx="2">
                    <c:v>SH-03</c:v>
                  </c:pt>
                  <c:pt idx="3">
                    <c:v>SH-04</c:v>
                  </c:pt>
                  <c:pt idx="4">
                    <c:v>SH-05</c:v>
                  </c:pt>
                  <c:pt idx="5">
                    <c:v>SH-06</c:v>
                  </c:pt>
                  <c:pt idx="6">
                    <c:v>SH-07</c:v>
                  </c:pt>
                  <c:pt idx="7">
                    <c:v>SH-08</c:v>
                  </c:pt>
                  <c:pt idx="8">
                    <c:v>SH-09</c:v>
                  </c:pt>
                  <c:pt idx="9">
                    <c:v>SH-10</c:v>
                  </c:pt>
                  <c:pt idx="10">
                    <c:v>SH-11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2</c:v>
                </c:pt>
                <c:pt idx="1">
                  <c:v>2</c:v>
                </c:pt>
                <c:pt idx="2">
                  <c:v>0</c:v>
                </c:pt>
                <c:pt idx="3">
                  <c:v>0</c:v>
                </c:pt>
                <c:pt idx="4">
                  <c:v>3</c:v>
                </c:pt>
                <c:pt idx="5">
                  <c:v>1</c:v>
                </c:pt>
                <c:pt idx="6">
                  <c:v>0</c:v>
                </c:pt>
                <c:pt idx="7">
                  <c:v>4</c:v>
                </c:pt>
                <c:pt idx="8">
                  <c:v>1</c:v>
                </c:pt>
                <c:pt idx="9">
                  <c:v>0</c:v>
                </c:pt>
                <c:pt idx="10">
                  <c:v>5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900" u="none">
                  <a:solidFill>
                    <a:srgbClr val="11111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37415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CA3A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missing caught</c:v>
                </c:pt>
              </c:strCache>
            </c:strRef>
          </c:tx>
          <c:spPr>
            <a:solidFill>
              <a:srgbClr val="6C4CF5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1111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Test 2</c:v>
                  </c:pt>
                  <c:pt idx="1">
                    <c:v>Test 3</c:v>
                  </c:pt>
                  <c:pt idx="2">
                    <c:v>Test 4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35</c:v>
                </c:pt>
                <c:pt idx="1">
                  <c:v>50</c:v>
                </c:pt>
                <c:pt idx="2">
                  <c:v>65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wrong reshoot</c:v>
                </c:pt>
              </c:strCache>
            </c:strRef>
          </c:tx>
          <c:spPr>
            <a:solidFill>
              <a:srgbClr val="F97316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1111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Test 2</c:v>
                  </c:pt>
                  <c:pt idx="1">
                    <c:v>Test 3</c:v>
                  </c:pt>
                  <c:pt idx="2">
                    <c:v>Test 4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</c:v>
                </c:pt>
                <c:pt idx="1">
                  <c:v>12</c:v>
                </c:pt>
                <c:pt idx="2">
                  <c:v>4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900" u="none">
                  <a:solidFill>
                    <a:srgbClr val="11111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37415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CA3A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Decode + sample</c:v>
                </c:pt>
              </c:strCache>
            </c:strRef>
          </c:tx>
          <c:spPr>
            <a:solidFill>
              <a:srgbClr val="A78BF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CPU</c:v>
                  </c:pt>
                  <c:pt idx="1">
                    <c:v>RTX 4080 GPU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2.07</c:v>
                </c:pt>
                <c:pt idx="1">
                  <c:v>2.08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Model (CLIP image)</c:v>
                </c:pt>
              </c:strCache>
            </c:strRef>
          </c:tx>
          <c:spPr>
            <a:solidFill>
              <a:srgbClr val="6C4CF5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CPU</c:v>
                  </c:pt>
                  <c:pt idx="1">
                    <c:v>RTX 4080 GPU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1.01</c:v>
                </c:pt>
                <c:pt idx="1">
                  <c:v>0.17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37415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CA3A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people</c:v>
                </c:pt>
              </c:strCache>
            </c:strRef>
          </c:tx>
          <c:spPr>
            <a:solidFill>
              <a:srgbClr val="6C4CF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1111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Openings per year</c:v>
                  </c:pt>
                  <c:pt idx="1">
                    <c:v>Self-employed (35%)</c:v>
                  </c:pt>
                  <c:pt idx="2">
                    <c:v>Editors + camera operators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5600</c:v>
                </c:pt>
                <c:pt idx="1">
                  <c:v>25200</c:v>
                </c:pt>
                <c:pt idx="2">
                  <c:v>72000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1111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37415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CA3A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USD</c:v>
                </c:pt>
              </c:strCache>
            </c:strRef>
          </c:tx>
          <c:spPr>
            <a:solidFill>
              <a:srgbClr val="6C4CF5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1111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Jumper (from, *)</c:v>
                  </c:pt>
                  <c:pt idx="1">
                    <c:v>Frame.io Team</c:v>
                  </c:pt>
                  <c:pt idx="2">
                    <c:v>UGen300 (one-time)</c:v>
                  </c:pt>
                  <c:pt idx="3">
                    <c:v>Final Cut Pro (one-time)</c:v>
                  </c:pt>
                  <c:pt idx="4">
                    <c:v>Resolve Studio (one-time)</c:v>
                  </c:pt>
                  <c:pt idx="5">
                    <c:v>Premiere Pro (*)</c:v>
                  </c:pt>
                  <c:pt idx="6">
                    <c:v>Frame.io Pro</c:v>
                  </c:pt>
                  <c:pt idx="7">
                    <c:v>Apple Creator Studio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588</c:v>
                </c:pt>
                <c:pt idx="1">
                  <c:v>300</c:v>
                </c:pt>
                <c:pt idx="2">
                  <c:v>299.99</c:v>
                </c:pt>
                <c:pt idx="3">
                  <c:v>299.99</c:v>
                </c:pt>
                <c:pt idx="4">
                  <c:v>295</c:v>
                </c:pt>
                <c:pt idx="5">
                  <c:v>276</c:v>
                </c:pt>
                <c:pt idx="6">
                  <c:v>180</c:v>
                </c:pt>
                <c:pt idx="7">
                  <c:v>129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0" i="0" strike="noStrike" sz="900" u="none">
                  <a:solidFill>
                    <a:srgbClr val="11111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37415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CA3A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NEO_DARK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NEO_VIOLET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11118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VIOLE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5.xml"/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image" Target="../media/image-33-5.png"/><Relationship Id="rId6" Type="http://schemas.openxmlformats.org/officeDocument/2006/relationships/image" Target="../media/image-3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yu9br\AppData\Local\Claude-Data\claude_pzs8sxrjxfjjc\scratch-workspaces\c862142c-bcba-48f7-a17f-6dc389d84d09\2507e86a-ea8c-427c-9ed4-55b4f6822600\scratch-2026-10-25-417d2c\decks\scenegap\img\cover_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71055" y="0"/>
            <a:ext cx="512064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5029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9E5FF"/>
                </a:solidFill>
              </a:rPr>
              <a:t>CREATOR AI · LIGHTNING TRACK · ASUS UGEN300</a:t>
            </a:r>
            <a:endParaRPr lang="en-US" sz="1100" dirty="0"/>
          </a:p>
        </p:txBody>
      </p:sp>
      <p:pic>
        <p:nvPicPr>
          <p:cNvPr id="4" name="Image 1" descr="C:\Users\yu9br\AppData\Local\Temp\neo-0p10RS\a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6583680" cy="13716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40080" y="297180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4F2FF"/>
                </a:solidFill>
              </a:rPr>
              <a:t>Helps a crew check the shot list against the footage before leaving the location, with playable evidence and a person's decision on every shot.</a:t>
            </a:r>
            <a:endParaRPr lang="en-US" sz="2000" dirty="0"/>
          </a:p>
        </p:txBody>
      </p:sp>
      <p:sp>
        <p:nvSpPr>
          <p:cNvPr id="6" name="Shape 2"/>
          <p:cNvSpPr/>
          <p:nvPr/>
        </p:nvSpPr>
        <p:spPr>
          <a:xfrm>
            <a:off x="640080" y="4343400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40080" y="434340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Runs on your own computer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3383280" y="4343400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3383280" y="434340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Evidence for every answer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40080" y="484632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40080" y="484632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 person decides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2560320" y="484632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560320" y="484632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UGen300 port planned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640080" y="6172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9E5FF"/>
                </a:solidFill>
              </a:rPr>
              <a:t>Stage I proposal · [Team name] · github.com/[team]/scenegap-edge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The missing shot is found at 23:00, after the café has closed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22D3EE"/>
                </a:solidFill>
              </a:rPr>
              <a:t>PROBLEM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45920"/>
            <a:ext cx="502920" cy="5029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64592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Illustrative scenario · two-person crew, café promo, 11 must-have shots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377440"/>
            <a:ext cx="39319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rgbClr val="E9E5FF"/>
                </a:solidFill>
              </a:rPr>
              <a:t>“We had pours. None of them was three seconds long. We found out in the edit.”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5029200" y="1600200"/>
            <a:ext cx="6492240" cy="989838"/>
          </a:xfrm>
          <a:prstGeom prst="roundRect">
            <a:avLst>
              <a:gd name="adj" fmla="val 12933"/>
            </a:avLst>
          </a:prstGeom>
          <a:solidFill>
            <a:srgbClr val="15151F"/>
          </a:solidFill>
          <a:ln w="9525">
            <a:solidFill>
              <a:srgbClr val="2A2A3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257800" y="1600200"/>
            <a:ext cx="109728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78FF"/>
                </a:solidFill>
              </a:rPr>
              <a:t>09:00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400800" y="1600200"/>
            <a:ext cx="489204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E7EB"/>
                </a:solidFill>
              </a:rPr>
              <a:t>Shot list agreed with the client: storefront, interior, beans, grinder, 3 s pour, two barista takes, bag with readable brand.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029200" y="2718054"/>
            <a:ext cx="6492240" cy="989838"/>
          </a:xfrm>
          <a:prstGeom prst="roundRect">
            <a:avLst>
              <a:gd name="adj" fmla="val 12933"/>
            </a:avLst>
          </a:prstGeom>
          <a:solidFill>
            <a:srgbClr val="15151F"/>
          </a:solidFill>
          <a:ln w="9525">
            <a:solidFill>
              <a:srgbClr val="2A2A3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257800" y="2718054"/>
            <a:ext cx="109728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78FF"/>
                </a:solidFill>
              </a:rPr>
              <a:t>17:40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400800" y="2718054"/>
            <a:ext cx="489204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E7EB"/>
                </a:solidFill>
              </a:rPr>
              <a:t>Wrap. Several cards of footage; nobody has time to watch it all on site.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5029200" y="3835908"/>
            <a:ext cx="6492240" cy="989838"/>
          </a:xfrm>
          <a:prstGeom prst="roundRect">
            <a:avLst>
              <a:gd name="adj" fmla="val 12933"/>
            </a:avLst>
          </a:prstGeom>
          <a:solidFill>
            <a:srgbClr val="15151F"/>
          </a:solidFill>
          <a:ln w="9525">
            <a:solidFill>
              <a:srgbClr val="2A2A3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257800" y="3835908"/>
            <a:ext cx="109728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78FF"/>
                </a:solidFill>
              </a:rPr>
              <a:t>23:00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6400800" y="3835908"/>
            <a:ext cx="489204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E7EB"/>
                </a:solidFill>
              </a:rPr>
              <a:t>The editor scrubs for the pour: every take cuts away after 2 s, and nobody filmed a customer drinking.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029200" y="4953762"/>
            <a:ext cx="6492240" cy="989838"/>
          </a:xfrm>
          <a:prstGeom prst="roundRect">
            <a:avLst>
              <a:gd name="adj" fmla="val 12933"/>
            </a:avLst>
          </a:prstGeom>
          <a:solidFill>
            <a:srgbClr val="15151F"/>
          </a:solidFill>
          <a:ln w="9525">
            <a:solidFill>
              <a:srgbClr val="2A2A3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257800" y="4953762"/>
            <a:ext cx="109728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D3EE"/>
                </a:solidFill>
              </a:rPr>
              <a:t>Next week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0" y="4953762"/>
            <a:ext cx="489204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E7EB"/>
                </a:solidFill>
              </a:rPr>
              <a:t>Reshoot day: NT$12,000–28,000 per crew-day in Taiwan, US$800–1,500 per videographer-day in the US, plus café and client again.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B8BA0"/>
                </a:solidFill>
              </a:rPr>
              <a:t>Day rates: PRO360 quote statistics (TW), Film Lifestyle mid-level rates (US); docs/research/BUSINESS_FACTS.md.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Existing tools find footage; SceneGap adds shot-list rules, evidence and reshoot tracking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PROBLEM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3057572"/>
                <a:gridCol w="2338143"/>
                <a:gridCol w="3237429"/>
                <a:gridCol w="2248215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FINDS THE MOMENT IN A CLIP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SHOT-LIST RULES (LENGTH, TAKES, SAME FRAME)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RUNS LOCALLY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Premiere Pro media intelligence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yes, In/Out range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in official docs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yes, on device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DaVinci Resolve 21 IntelliSearch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visual search: whole clips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in official docs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stated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Final Cut Pro 12 visual search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in official docs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stated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invideo AI script supervisor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stated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done / pending only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(upload)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 Edge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yes, original timecode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checked per rule; a person decides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The difference is the workflow around search: shot list → rules → evidence → a person's decision → reshoot list → re-check.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Vendor documentation, accessed 2026-10-26 (Adobe media intelligence FAQ and others). More tools and prices: A11.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What works today, and what still needs proof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PROBLEM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600200"/>
            <a:ext cx="5303520" cy="3566160"/>
          </a:xfrm>
          <a:prstGeom prst="roundRect">
            <a:avLst>
              <a:gd name="adj" fmla="val 3590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0" y="1600200"/>
            <a:ext cx="5303520" cy="3566160"/>
          </a:xfrm>
          <a:prstGeom prst="roundRect">
            <a:avLst>
              <a:gd name="adj" fmla="val 3590"/>
            </a:avLst>
          </a:prstGeom>
          <a:solidFill>
            <a:srgbClr val="0B0B12"/>
          </a:solidFill>
          <a:ln w="12700">
            <a:solidFill>
              <a:srgbClr val="0B0B1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18745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8"/>
                </a:solidFill>
              </a:rPr>
              <a:t>Shown today (live app, real footage)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468880"/>
            <a:ext cx="466344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</a:rPr>
              <a:t>Shot list in the crew's words, with rules: length, takes, same frame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</a:rPr>
              <a:t>Candidate clips with playable evidence on the original timecode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</a:rPr>
              <a:t>Rule checks: 10 of 12 controlled cases judged right (slide 12)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</a:rPr>
              <a:t>A person accepts, rejects, or adds the shot to the reshoot list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</a:rPr>
              <a:t>Demo: 9 Commons clips (5.9 min) analysed in 22 s on a desktop GPU; new footage re-checked file by file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537960" y="18745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2D3EE"/>
                </a:solidFill>
              </a:rPr>
              <a:t>Not shown yet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2468880"/>
            <a:ext cx="466344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</a:rPr>
              <a:t>Missing shots on real café video: test 4 met both targets (65% caught, 3.8% wrong reshoots), but on still photos; test 3 video had 12% wrong (slide 15)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</a:rPr>
              <a:t>Time saved: no user study yet. Proxy: 317 s of candidate clips to play vs 839 s of footage (38%)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</a:rPr>
              <a:t>UGen300 speed and quality: not run on the device yet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</a:rPr>
              <a:t>Human-checked labels: current labels are AI-assisted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5440680"/>
            <a:ext cx="0" cy="457200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68680" y="539496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SceneGap Edge today is a review assistant that keeps evidence and a person's decision; automation grows only as it is proven.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From your shot list to a decision you can play back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SOLUTION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463040"/>
            <a:ext cx="2606040" cy="2103120"/>
          </a:xfrm>
          <a:prstGeom prst="roundRect">
            <a:avLst>
              <a:gd name="adj" fmla="val 6087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6002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1 · Write the shot list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011680"/>
            <a:ext cx="2240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In Chinese, as the crew speaks; a person checks the English search phrase and adds rules. Test list: 11 shots, each with a minimum length; 1 same-frame, 1 two-takes, 1 manual brand check.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06140" y="1463040"/>
            <a:ext cx="2606040" cy="2103120"/>
          </a:xfrm>
          <a:prstGeom prst="roundRect">
            <a:avLst>
              <a:gd name="adj" fmla="val 6087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89020" y="16002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2 · Index footage locally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3589020" y="2011680"/>
            <a:ext cx="2240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Camera cuts, one frame per second on the original timecode, CLIP vectors. Desktop: 2.3 s per minute of video (GPU), 3.1 s (CPU). UGen300 next.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1463040"/>
            <a:ext cx="2606040" cy="2103120"/>
          </a:xfrm>
          <a:prstGeom prst="roundRect">
            <a:avLst>
              <a:gd name="adj" fmla="val 6087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55080" y="16002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3 · Check each rule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6355080" y="2011680"/>
            <a:ext cx="2240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Pass, fail or can't tell per rule; failing clips stay visible. Threshold τ 0.225 set on dev; search over 10,000 segments p95 14 ms.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38260" y="1463040"/>
            <a:ext cx="2606040" cy="2103120"/>
          </a:xfrm>
          <a:prstGeom prst="roundRect">
            <a:avLst>
              <a:gd name="adj" fmla="val 6087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1140" y="16002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4 · A person decides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9121140" y="2011680"/>
            <a:ext cx="2240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Accept, reject with a reason, or add to the reshoot list. Only the person's decision counts as done; it is bound to the shot's version.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7490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The AI's four answers (a person's decision is stored separately)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4114800"/>
          <a:ext cx="108813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6400800"/>
                <a:gridCol w="30175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ANSWER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 THE 26-CLIP TEST LIBRARY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Candidate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Every rule passes on at least one clip; still needs a person to accept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of 11 shots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Something matched but a rule failed or can't be decided (too short, one take of two, a manual check)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(SH-10, manual brand check)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found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Nothing reached the threshold in the analysed files; not proof of absence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0; 30 of 38 missing shots still got 'candidate' (slide 15)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Unverifiable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Files failed to decode or are missing, so absence cannot be claimed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Before leaving, the crew sees which shots are confirmed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SOLUTION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85216" y="1453896"/>
            <a:ext cx="8110728" cy="4262496"/>
          </a:xfrm>
          <a:prstGeom prst="roundRect">
            <a:avLst>
              <a:gd name="adj" fmla="val 2145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C:\Users\yu9br\AppData\Local\Claude-Data\claude_pzs8sxrjxfjjc\scratch-workspaces\c862142c-bcba-48f7-a17f-6dc389d84d09\2507e86a-ea8c-427c-9ed4-55b4f6822600\scratch-2026-10-25-417d2c\decks\scenegap\img\shot_co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8001000" cy="415276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869680" y="1463040"/>
            <a:ext cx="2651760" cy="4251960"/>
          </a:xfrm>
          <a:prstGeom prst="roundRect">
            <a:avLst>
              <a:gd name="adj" fmla="val 4828"/>
            </a:avLst>
          </a:prstGeom>
          <a:solidFill>
            <a:srgbClr val="0B0B12"/>
          </a:solidFill>
          <a:ln w="12700">
            <a:solidFill>
              <a:srgbClr val="0B0B1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052560" y="1600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D3EE"/>
                </a:solidFill>
              </a:rPr>
              <a:t>This demo project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9052560" y="2011680"/>
            <a:ext cx="22860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9 Commons clips, 5.9 min, analysed in 22 s on a desktop GPU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AI candidate: 10 of 11 shots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Accepted by a person: 5 of 11 (SH-11 needs a second take)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Partial: SH-10 (manual brand check)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Reshoot list: grinder, drinking, coffee bag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Decisions entered as a scripted demo review, not timed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Live app (Coverage page, cropped). Columns: shot · AI answer · person's decision · reason · clip.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Every answer plays its clip, and a person decides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SOLUTION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85216" y="1453896"/>
            <a:ext cx="7730295" cy="4361688"/>
          </a:xfrm>
          <a:prstGeom prst="roundRect">
            <a:avLst>
              <a:gd name="adj" fmla="val 2096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C:\Users\yu9br\AppData\Local\Claude-Data\claude_pzs8sxrjxfjjc\scratch-workspaces\c862142c-bcba-48f7-a17f-6dc389d84d09\2507e86a-ea8c-427c-9ed4-55b4f6822600\scratch-2026-10-25-417d2c\decks\scenegap\img\shot_ev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7620567" cy="42519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549640" y="1463040"/>
            <a:ext cx="2971800" cy="4343400"/>
          </a:xfrm>
          <a:prstGeom prst="roundRect">
            <a:avLst>
              <a:gd name="adj" fmla="val 4308"/>
            </a:avLst>
          </a:prstGeom>
          <a:solidFill>
            <a:srgbClr val="0B0B12"/>
          </a:solidFill>
          <a:ln w="12700">
            <a:solidFill>
              <a:srgbClr val="0B0B1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732520" y="160020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D3EE"/>
                </a:solidFill>
              </a:rPr>
              <a:t>SH-05 on this screen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8732520" y="2011680"/>
            <a:ext cx="26060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Shot 「咖啡倒入杯中或拉花，連續 3 秒」 as committed before any frame was seen (eval/requirements.json, 10/26 18:09)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Filmstrip and clip ranges on the original timecode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Ranking score 0.314: orders clips, not a probability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Length check 24.0 s ≥ 3 s: how long frames stay close to the query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</a:rPr>
              <a:t>Log: espresso stream with no cup rejected with a reason; latte-art pour accepted; each can be undone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Live app (clip view, cropped). Original files are never touched.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Shots without a usable clip go on the reshoot list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SOLUTION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85216" y="1453896"/>
            <a:ext cx="4856102" cy="4361688"/>
          </a:xfrm>
          <a:prstGeom prst="roundRect">
            <a:avLst>
              <a:gd name="adj" fmla="val 2096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C:\Users\yu9br\AppData\Local\Claude-Data\claude_pzs8sxrjxfjjc\scratch-workspaces\c862142c-bcba-48f7-a17f-6dc389d84d09\2507e86a-ea8c-427c-9ed4-55b4f6822600\scratch-2026-10-25-417d2c\decks\scenegap\img\shot_r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4746374" cy="42519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00800" y="1463040"/>
            <a:ext cx="5120640" cy="4343400"/>
          </a:xfrm>
          <a:prstGeom prst="roundRect">
            <a:avLst>
              <a:gd name="adj" fmla="val 2947"/>
            </a:avLst>
          </a:prstGeom>
          <a:solidFill>
            <a:srgbClr val="0B0B12"/>
          </a:solidFill>
          <a:ln w="12700">
            <a:solidFill>
              <a:srgbClr val="0B0B1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583680" y="16002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D3EE"/>
                </a:solidFill>
              </a:rPr>
              <a:t>What the crew gets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6583680" y="2011680"/>
            <a:ext cx="47548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One card per shot: why it is missing, the closest clip, minimum length, how it will be checked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The card shows the AI's rules passed; the person decided the clip shows tamping, not grinding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Status: to decide → reshoot → shooting → done / not reshooting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Video demo: the reshot clip was analysed alone in 2.5 s and the grinder shot left the list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The demo review stopped at the top 3; the 4th candidate was a valid grinding clip (next page)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</a:rPr>
              <a:t>Fixed: the card now shows how many candidates a person checked (已檢查 3／5) and warns when some are unchecked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Live app (reshoot list, SH-04 card). Export: CSV / HTML.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What the model returns: top 5 per shot, checked against labels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85216" y="1453896"/>
            <a:ext cx="8659368" cy="4419251"/>
          </a:xfrm>
          <a:prstGeom prst="roundRect">
            <a:avLst>
              <a:gd name="adj" fmla="val 2069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C:\Users\yu9br\AppData\Local\Claude-Data\claude_pzs8sxrjxfjjc\scratch-workspaces\c862142c-bcba-48f7-a17f-6dc389d84d09\2507e86a-ea8c-427c-9ed4-55b4f6822600\scratch-2026-10-25-417d2c\decks\scenegap\img\fig_top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8549640" cy="4309523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418320" y="1463040"/>
            <a:ext cx="2103120" cy="4389120"/>
          </a:xfrm>
          <a:prstGeom prst="roundRect">
            <a:avLst>
              <a:gd name="adj" fmla="val 6087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601200" y="16002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Read it as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9601200" y="2011680"/>
            <a:ext cx="173736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</a:rPr>
              <a:t>SH-05: right clips are in the list, but #1 is wrong</a:t>
            </a:r>
            <a:endParaRPr lang="en-US" sz="10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</a:rPr>
              <a:t>SH-08: same-frame rule works here (4 of 5)</a:t>
            </a:r>
            <a:endParaRPr lang="en-US" sz="10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</a:rPr>
              <a:t>SH-04: the right clip is 4th; ranking by peak is the fix</a:t>
            </a:r>
            <a:endParaRPr lang="en-US" sz="10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</a:rPr>
              <a:t>SH-07: nothing to find, yet 5 clips pass: why missing shots go undetected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Demo project (9 clips); candidates and scores from the live app; right / wrong from eval/labels/gold.json (≥ 0.5 s overlap). decks/scenegap/fig_top5.py.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How the length rule reads the model's scores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85216" y="1453896"/>
            <a:ext cx="6584362" cy="4453128"/>
          </a:xfrm>
          <a:prstGeom prst="roundRect">
            <a:avLst>
              <a:gd name="adj" fmla="val 2053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C:\Users\yu9br\AppData\Local\Claude-Data\claude_pzs8sxrjxfjjc\scratch-workspaces\c862142c-bcba-48f7-a17f-6dc389d84d09\2507e86a-ea8c-427c-9ed4-55b4f6822600\scratch-2026-10-25-417d2c\decks\scenegap\img\fig_curv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6474634" cy="4343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360920" y="1463040"/>
            <a:ext cx="4160520" cy="4389120"/>
          </a:xfrm>
          <a:prstGeom prst="roundRect">
            <a:avLst>
              <a:gd name="adj" fmla="val 3077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543800" y="1600200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What the curves show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7543800" y="2011680"/>
            <a:ext cx="379476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Street frames score about 0.18; the pour about 0.33, well above τ 0.225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SceneGap samples 1 frame per second: a 4 s pour gives 4 samples, a lower bound of 3.0 s, so it passes the 3 s rule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A 2 s pour gives 1.0 s: too short, correctly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A finished latte scores 0.30 with nothing poured: CLIP sees the result, not the action, so a person checks it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Stage II: denser sampling near the edges and an action check for pour-type shots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Rule-check cases cut from real Commons footage (eval/rule_check.py); similarity from the same CLIP model at 4 frames/s. decks/scenegap/fig_curves.py.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What each rule actually measures, and what it cannot tell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1528786"/>
                <a:gridCol w="3956858"/>
                <a:gridCol w="3597144"/>
                <a:gridCol w="17985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SCENEGAP MEASURES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CANNOT TELL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TODAY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Length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long frames stay close to the query inside one camera cut (lower and upper bound; re-check every 0.25 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Whether the action itself lasts that long; the lower bound runs about 1 s short (4 s pour → 3.0 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auto, a person checks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frame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 phrases above the threshold in the same sampled frame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Who is with whom; objects too small for CLIP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auto, a person checks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Takes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Distinct files, by content hash; duplicates of one file are one take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re-encoded copy of the same take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auto, a person checks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Readable brand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Nothing automatic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Reading text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found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Nothing reached the threshold in the analysed files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Proof the shot was never filmed; failed files make it 'can't tell'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auto, scope shown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Dense sampling gives more observations, not certainty: a clip that looks like pouring is still checked by a person.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Rule check: 10 of 12 right; both misses are false acceptances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4406501"/>
                <a:gridCol w="989215"/>
                <a:gridCol w="2338143"/>
                <a:gridCol w="1169072"/>
                <a:gridCol w="989215"/>
                <a:gridCol w="719429"/>
              </a:tblGrid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CASE (REAL COMMONS FOOTAGE, CUT TO A KNOWN ANSWER)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SHOULD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MEASURED RUN (S)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FILES / TAKES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RIGHT?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SH-05 · continuous 4 s latte-art pour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SH-05 · 6 s pour from a different shoot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SH-05 · pour lasts only 2 s (rule: 3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(duration_short)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SH-05 · two 2 s pours split by another shot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(duration_short)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SH-05 · finished latte, nothing is poured (5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SH-08 · two people at a café table, same frame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SH-08 · two people, but outdoors (not in a café)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(no_candidate)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SH-08 · two people, then a café interior: separate shots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(no_candidate)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SH-11 · one barista clip (rule: 2 takes)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(takes_short)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/ 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SH-11 · the same clip copied byte for byte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(takes_short)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/ 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SH-11 · the same clip re-encoded (still one take)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/ 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SH-11 · two different barista clips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/ 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Open: an action check (a finished latte passes as 'pouring') and re-encoded-take dedup. Such passes stay 'candidate, a person confirms', never done. eval/rule_check.py, frozen threshold.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How we tested: fixed protocol, open footage, AI-assisted labels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</a:rPr>
              <a:t>Protocol and the 11 shots committed before any label; threshold set on dev only; test scored once. Every file below is in the repo.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8745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Footage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240280"/>
          <a:ext cx="53035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931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 Wikimedia Commons clips, 25.2 min, H.264 ≤ 1280 px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 clips, 11.2 min: threshold only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 clips, 14.0 min: scored once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Distractors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 of 44 clips contain none of the 11 shots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Licences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CC BY-SA 19, CC BY 14, CC0 8, public domain 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Split note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author pair crosses (022 dev, 025 test); without the 2 projects holding 025, SceneGap still catches 0/31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217920" y="18745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Labels</a:t>
            </a:r>
            <a:endParaRPr lang="en-US" sz="1300" dirty="0"/>
          </a:p>
        </p:txBody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2240280"/>
          <a:ext cx="53035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7490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Labellers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two independent AI sessions on 1 fps sheets; an AI third pass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Agreement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472/484 clip × shot pairs (97.5%); κ 0.914 over 16,687 frame samples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Third pass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 disputed frame labels decided with 9 written rules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Consistency pass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 of 238 agreed positives removed after labelling (65 were SH-11)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Lenient labels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restoring them leaves SceneGap unchanged (7/11, 18/55)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Threshold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0.225: dev F1 0.240, frame precision 14.4%, recall 71.8%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640080" y="5577840"/>
            <a:ext cx="0" cy="347472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41248" y="553212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8"/>
                </a:solidFill>
              </a:rPr>
              <a:t>Simulated projects reuse the same clips, so they are not independent shoots. Human-checked labels on the original video come next; details in A5–A7.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Right clip in the top 5 for 7 of 11 shots; plain frame search found 8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63040"/>
          <a:ext cx="56692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737360"/>
                <a:gridCol w="17373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METHOD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RIGHT CLIP IN TOP 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TOP-5 PICKS RIGHT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Title keywords (whole clips)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45% (5/11, CI 21–72%)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36% (8/22, &lt; 5 returned)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Single-frame search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73% (8/11, CI 43–90%)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 (22/55)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SceneGap, ranked after rule checks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64% (7/11, CI 35–85%)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33% (18/55)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3474720"/>
            <a:ext cx="5669280" cy="2011680"/>
          </a:xfrm>
          <a:prstGeom prst="roundRect">
            <a:avLst>
              <a:gd name="adj" fmla="val 636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36118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Why one hit was lost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023360"/>
            <a:ext cx="5303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Lost SH-03 and SH-04, gained SH-06.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Clip 019 is the right answer for both. On its own it passes every rule (5 s and 19 s runs): the rules did not reject it.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Runs are ranked by average similarity; single-frame search uses the peak frame. Stage II ranks by peak.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74151"/>
                </a:solidFill>
              </a:rPr>
              <a:t>A hit needs 0.5 s overlap, so this layer does not test the length rule (slide 12 does).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583680" y="14630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Correct clips in the top 5, per shot (of 5)</a:t>
            </a:r>
            <a:endParaRPr lang="en-US" sz="13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6583680" y="1828800"/>
          <a:ext cx="493776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26 held-out clips, 14.0 min, scored once at τ 0.225; Wilson 95% intervals. SH-03 and SH-07 each rest on one 3 s gold clip. Per shot: A5.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Missing shots: on test 4 the check layer catches 65% at 3.8% wrong reshoots; both targets met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Each test set scored once; targets: caught ≥ 30%, wrong reshoot ≤ 5%</a:t>
            </a:r>
            <a:endParaRPr lang="en-US" sz="13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69494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560320"/>
                <a:gridCol w="1188720"/>
                <a:gridCol w="1188720"/>
              </a:tblGrid>
              <a:tr h="32657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METHOD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CAUGHT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WRONG RESHOOT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1 (Oct 26)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system alone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0/38 (0%)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0/50 (0%)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2: 24 new clips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 of the top 3 candidates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32/91 (35%)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3/41 (7.3%)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3: 39 new clips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 of every second (frozen)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76/152 (50%)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8/68 (12%)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3, post hoc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a person looks at 3 frames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76/152 (50%)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2/68 (2.9%)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4: 150 new photo clips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check, frozen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146/226 (65%)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4/104 (3.8%)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4, preregistered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a person looks at 3 frames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146/226 (65%)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0/104 (0%)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4206240"/>
            <a:ext cx="6949440" cy="1280160"/>
          </a:xfrm>
          <a:prstGeom prst="roundRect">
            <a:avLst>
              <a:gd name="adj" fmla="val 10000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434340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374151"/>
                </a:solidFill>
              </a:rPr>
              <a:t>How: Qwen2-VL-2B answers each shot's check question ('Is ground coffee coming out of a grinder?') for every 1 s frame; 2 confirmed seconds in a row = present.</a:t>
            </a:r>
            <a:endParaRPr lang="en-US" sz="9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374151"/>
                </a:solidFill>
              </a:rPr>
              <a:t>Test 3's 8 wrong reshoots were borderline frames, so each alert shows the 3 most likely frames; test 4 then scored that look as a preregistered metric.</a:t>
            </a:r>
            <a:endParaRPr lang="en-US" sz="9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374151"/>
                </a:solidFill>
              </a:rPr>
              <a:t>Test 4 is Commons photos as 4 s clips: fresh images, but no motion or cuts. Upper 95% bound on wrong reshoots: 9.5%.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7863840" y="1463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New footage, % of shots</a:t>
            </a:r>
            <a:endParaRPr lang="en-US" sz="13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7863840" y="1828800"/>
          <a:ext cx="365760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Shape 7"/>
          <p:cNvSpPr/>
          <p:nvPr/>
        </p:nvSpPr>
        <p:spPr>
          <a:xfrm>
            <a:off x="640080" y="5577840"/>
            <a:ext cx="0" cy="347472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41248" y="553212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8"/>
                </a:solidFill>
              </a:rPr>
              <a:t>Labels: two AI passes and a blind third (κ 0.93–0.98), not yet checked by people. Next: real café video and a timed user test.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Unit: one shot in one simulated 8-clip project. eval/PROTOCOL.md (Stage 1.5–1.7); eval/verify16.py; eval/verify16_evidence.py; A8.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Plan: the image half of CLIP on the UGen300; the PC keeps the rest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HARDWARE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85216" y="1453896"/>
            <a:ext cx="6510528" cy="3176778"/>
          </a:xfrm>
          <a:prstGeom prst="roundRect">
            <a:avLst>
              <a:gd name="adj" fmla="val 2878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C:\Users\yu9br\AppData\Local\Claude-Data\claude_pzs8sxrjxfjjc\scratch-workspaces\c862142c-bcba-48f7-a17f-6dc389d84d09\2507e86a-ea8c-427c-9ed4-55b4f6822600\scratch-2026-10-25-417d2c\decks\scenegap\img\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6400800" cy="306705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0" y="146304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ASUS UGen300</a:t>
            </a:r>
            <a:endParaRPr lang="en-US" sz="1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828800"/>
          <a:ext cx="42062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8346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Chip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Hailo-10H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performance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 TOPS INT4 / 20 TOPS INT8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Memory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GB LPDDR4, 4266 MT/s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USB 3.1 Gen2 Type-C, 10 Gbps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Power / size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 W typical; 105 × 50 × 18 mm, 150 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Windows, Linux, Android (no macOS listed)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$299.99 USB 8 GB (reported)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CLIP ViT-B/32 image encoder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81.5 / 350 FPS at batch 1 / 8 (Hailo zoo, PCIe)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640080" y="4983480"/>
            <a:ext cx="6400800" cy="868680"/>
          </a:xfrm>
          <a:prstGeom prst="roundRect">
            <a:avLst>
              <a:gd name="adj" fmla="val 14737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22960" y="5120640"/>
            <a:ext cx="6035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</a:rPr>
              <a:t>Second device job: the missing-shot verifier, Qwen2-VL-2B, which Hailo lists for Hailo-10H (slide 15). Frames over USB: about 9 MB per minute (estimate). Both models must pass G1-style checks against the PC first (A1). Demo PC: Windows 11, RTX 4080; Mac: CPU only.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BUSINESS_FACTS.md §2 (ASUS spec; price reported by CNX Software), MODEL_PLAN.md §2, §6; Hailo Model Zoo measures over PCIe, not USB.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Measured: decoding is 2.1 of the 2.3 s per minute; a UGen300 would free the GPU or a laptop CPU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HARDWARE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Seconds per minute of video (desktop)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1828800"/>
          <a:ext cx="475488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669280" y="146304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Model and search</a:t>
            </a:r>
            <a:endParaRPr lang="en-US" sz="1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828800"/>
          <a:ext cx="58521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463040"/>
                <a:gridCol w="1097280"/>
                <a:gridCol w="1828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BACKEND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 SPEED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 LOAD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SEARCH P50 / P95 (10,000 SEGMENTS)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CPU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61.5 frames/s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6.51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11.77 / 14.29 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RTX 4080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365 frames/s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1.88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7.61 / 13.39 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UGen300 (vendor)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81.5 / 350 FPS (batch 1 / 8, PCIe)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5669280" y="365760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Playing a 1080p30 test pattern while analysing (budget 33.3 ms)</a:t>
            </a:r>
            <a:endParaRPr lang="en-US" sz="1300" dirty="0"/>
          </a:p>
        </p:txBody>
      </p:sp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4023360"/>
          <a:ext cx="58521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371600"/>
                <a:gridCol w="1463040"/>
                <a:gridCol w="155448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ANALYSIS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LATE FRAMES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 WORK P95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ANALYSES FINISHED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1,800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5.7 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CPU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1,800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 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1,800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 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640080" y="5577840"/>
            <a:ext cx="0" cy="347472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841248" y="553212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8"/>
                </a:solidFill>
              </a:rPr>
              <a:t>The model is 32% of the CPU run and 7% of the GPU run. Stage II measures an editing app alone vs with CPU, GPU or UGen300 analysis.</a:t>
            </a:r>
            <a:endParaRPr lang="en-US" sz="1250" dirty="0"/>
          </a:p>
        </p:txBody>
      </p:sp>
      <p:sp>
        <p:nvSpPr>
          <p:cNvPr id="13" name="Text 8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eval/results/perf.json (six short clips, 85 s, ≤ 1280 px, warm model; import and hashing not timed), interference.json (synthetic test pattern, not an editing app).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Sourced: who pays first is 1–3 person crews and freelance editors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BUSINESS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US floor (BLS OOH, 2025)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1828800"/>
          <a:ext cx="48463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760720" y="146304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Segments (PRD 4.1)</a:t>
            </a:r>
            <a:endParaRPr lang="en-US" sz="1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1828800"/>
          <a:ext cx="57607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103120"/>
                <a:gridCol w="20116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SIZE SIGNAL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MUST HOLD TRUE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1–3 person crews (first)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11,400 self-employed US camera operators; TW crew-day NT$12,000–28,000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they write a shot list and carry a computer on site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Freelance editors (first)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13,800 self-employed US editors; median $75,420/yr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 briefs are specific; a pickup can still be arranged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Student teams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data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will check a little by hand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Brand content producers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91% of businesses use video (Wyzowl 2026, partial)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templates stay stable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760720" y="4709160"/>
            <a:ext cx="5760720" cy="731520"/>
          </a:xfrm>
          <a:prstGeom prst="roundRect">
            <a:avLst>
              <a:gd name="adj" fmla="val 17500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943600" y="48463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</a:rPr>
              <a:t>BLS is a floor: it leaves out YouTubers and in-house marketing staff. Worldwide, ~50M creators and ~4% professional (Goldman Sachs, partly verified).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US BLS OOH accessed 2026-10-26 (39,400 editors + 32,600 camera operators; 35% self-employed; ~5,600 openings a year); self-employed split is our arithmetic. Day rates per videographer.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Hypothesis: one prevented reshoot could offset the device cost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BUSINESS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Value = hours saved × hourly cost + reshoot avoided − tool cost</a:t>
            </a:r>
            <a:endParaRPr lang="en-US" sz="1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6126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377440"/>
                <a:gridCol w="1737360"/>
              </a:tblGrid>
              <a:tr h="33963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 USED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Hourly cost, editor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$36.26/h = $75,420 ÷ 2,080 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sourced; 2,080 h assumed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Reshoot day, US, 2 people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$1,600–3,000 = 2 × $800–1,500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sourced rates; crew of 2 assumed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Reshoot day, Taiwan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NT$12,000–28,000 per crew-day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quote statistics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 cost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$299.99 UGen300; core software free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 reported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Hours saved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unmeasured (proxy: 38% of footage to play)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user study, Stage II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Reshoots avoided per project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unmeasured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interviews, Stage II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4389120"/>
            <a:ext cx="2994660" cy="1051560"/>
          </a:xfrm>
          <a:prstGeom prst="roundRect">
            <a:avLst>
              <a:gd name="adj" fmla="val 1217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8" name="Image 0" descr="C:\Users\yu9br\AppData\Local\Temp\neo-0p10RS\a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4480560"/>
            <a:ext cx="2377440" cy="5257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" y="5024628"/>
            <a:ext cx="27203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</a:rPr>
              <a:t>of editor time pays for the device</a:t>
            </a:r>
            <a:endParaRPr lang="en-US" sz="950" dirty="0"/>
          </a:p>
        </p:txBody>
      </p:sp>
      <p:sp>
        <p:nvSpPr>
          <p:cNvPr id="10" name="Shape 6"/>
          <p:cNvSpPr/>
          <p:nvPr/>
        </p:nvSpPr>
        <p:spPr>
          <a:xfrm>
            <a:off x="3771900" y="4389120"/>
            <a:ext cx="2994660" cy="1051560"/>
          </a:xfrm>
          <a:prstGeom prst="roundRect">
            <a:avLst>
              <a:gd name="adj" fmla="val 1217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11" name="Image 1" descr="C:\Users\yu9br\AppData\Local\Temp\neo-0p10RS\a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9060" y="4480560"/>
            <a:ext cx="2377440" cy="5257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909060" y="5024628"/>
            <a:ext cx="27203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</a:rPr>
              <a:t>of one US two-person reshoot day</a:t>
            </a:r>
            <a:endParaRPr lang="en-US" sz="950" dirty="0"/>
          </a:p>
        </p:txBody>
      </p:sp>
      <p:sp>
        <p:nvSpPr>
          <p:cNvPr id="13" name="Text 8"/>
          <p:cNvSpPr txBox="1"/>
          <p:nvPr/>
        </p:nvSpPr>
        <p:spPr>
          <a:xfrm>
            <a:off x="7040880" y="146304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Price per seat, USD per year or one-time</a:t>
            </a:r>
            <a:endParaRPr lang="en-US" sz="13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7040880" y="1828800"/>
          <a:ext cx="448056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Shape 9"/>
          <p:cNvSpPr/>
          <p:nvPr/>
        </p:nvSpPr>
        <p:spPr>
          <a:xfrm>
            <a:off x="7040880" y="4617720"/>
            <a:ext cx="4480560" cy="822960"/>
          </a:xfrm>
          <a:prstGeom prst="roundRect">
            <a:avLst>
              <a:gd name="adj" fmla="val 15556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7223760" y="47548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</a:rPr>
              <a:t>Open core: the Apache-2.0 checker is free. Paid: a tested UGen300 bundle (installer, driver versions, device-checked model, support) and shot-list templates. Axle FOCUS: $2,995+/yr.</a:t>
            </a:r>
            <a:endParaRPr lang="en-US" sz="950" dirty="0"/>
          </a:p>
        </p:txBody>
      </p:sp>
      <p:sp>
        <p:nvSpPr>
          <p:cNvPr id="17" name="Shape 11"/>
          <p:cNvSpPr/>
          <p:nvPr/>
        </p:nvSpPr>
        <p:spPr>
          <a:xfrm>
            <a:off x="640080" y="5577840"/>
            <a:ext cx="0" cy="347472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841248" y="553212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8"/>
                </a:solidFill>
              </a:rPr>
              <a:t>Device price only: the on-site computer, setup, upkeep and the person's time are extra. Test it: two groups check one card, by hand vs with SceneGap.</a:t>
            </a:r>
            <a:endParaRPr lang="en-US" sz="1250" dirty="0"/>
          </a:p>
        </p:txBody>
      </p:sp>
      <p:sp>
        <p:nvSpPr>
          <p:cNvPr id="19" name="Text 13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BUSINESS_FACTS.md §1c, §2, §4; * vendor page not readable at access. Yearly = 12 × monthly list price.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Shown today, proven next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PLAN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</a:rPr>
              <a:t>SceneGap Edge today: shot list → candidate clips with evidence → a person's decision → reshoot list → re-check, on real footage.</a:t>
            </a:r>
            <a:endParaRPr lang="en-US" sz="14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74520"/>
          <a:ext cx="108813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566160"/>
                <a:gridCol w="3931920"/>
                <a:gridCol w="1920240"/>
              </a:tblGrid>
              <a:tr h="50945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PROOF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TODAY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STAGE II TARGET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· Rules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of 12 controlled cases; top 5 right for 7/11; missing shots: test 4 caught 65% at 3.8% wrong reshoots (0% after a 3-frame look; photo clips)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Recall@5 ≥ 90% and wrong reshoot ≤ 5% in the supported scope; ranking by peak; per-shot thresholds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PRD 21.5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· Labels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AI-assisted, κ 0.91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person labels sampled pairs on the original video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Protocol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· People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study; proxy 38% of footage to play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3–5 interviews, then 8–12 crews; median task time −30%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PRD 22.1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· UGen300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run; PC harness cos 1.0000, ρ 0.99999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G1a cos ≥ 0.98, G1b ρ ≥ 0.95, G1e status ≥ 90%; USB speed, power, editing-app load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MODEL_PLAN §4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· 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search p95 13–14 ms; 2.3 s per minute (GPU)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first result for a 60 s clip ≤ 45 s, timed end to end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PRD NFR-05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· Software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 automated tests; 30 of 36 acceptance cases pass; clean rebuild passes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device and user cases (TC-017, 018, 033, 034)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A9, A12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5577840"/>
            <a:ext cx="0" cy="347472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41248" y="553212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8"/>
                </a:solidFill>
              </a:rPr>
              <a:t>Fewer surprises in the edit: a reshoot list made before the crew leaves, with the evidence a person checked.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A1 · G1: six checks before the UGen300 replaces the PC model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989215"/>
                <a:gridCol w="4586358"/>
                <a:gridCol w="3057572"/>
                <a:gridCol w="224821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 (DEV FRAMES, SAME PREPROCESSING)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BAR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Cosine, HEF vs fp32 embedding, per frame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≥ 0.98, p5 ≥ 0.95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Spearman ρ of similarity per query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≥ 0.95, worst ≥ 0.85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Top-5 / top-10 shot overlap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0.80 / ≥ 0.85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 Hit@5, each backend with its own τ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dev shot lost vs fp32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agreement on the dev project simulation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90% same status; no new 'candidate' on a true gap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G1f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Frames/s over USB, 60 s clip end to end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reported, no bar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Harness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script, CPU vs CUDA fp32 (662 frames, 13 queries; plan ≥ 2,000 / ≥ 40)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1.0 expected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 1.0000, ρ 0.99999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Vendor: Hailo-10H ViT-B/32 image encoder, CIFAR-100 zero-shot 65.3 float → 64.5 on chip (PCIe, not USB).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docs/MODEL_PLAN.md §2, §4; eval/results/g1_selfcheck.json; Hailo Model Zoo (vendor figures).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A1b · After G1: product-level checks on the device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4136715"/>
                <a:gridCol w="4406501"/>
                <a:gridCol w="2338143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PROTECTS AGAINST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agreement, UGen300 vs PC, on dev projects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quantisation causing more false acceptances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USB end-to-end analysis time for a 60 s clip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device that is fast in the zoo but slow over USB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Editing-app playback and scrubbing with analysis on the device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claiming host relief without measuring it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Whole-system extra power (meter at the wall)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quoting 2.5 W as the system's cost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shots caught and wrong reshoots on new footage, verifier on the device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product effect, not just matching vectors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Model agreement (G1) is necessary, not sufficient: the product effect is measured on new footage.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A2 · What could break, and what we do then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4676287"/>
                <a:gridCol w="6205073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FALLBACK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HEF fails G1 (quantisation hurts ranking)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Recalibrate with dev frames; TinyCLIP; else ship the CPU/GPU version and say so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borderline camera cut splits a long take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length check says 'can't tell', not 'too short'; the cut is shown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global threshold fits some shots badly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threshold per model version now; per type of shot next, set on dev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English phrase drifts from the Chinese shot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person checks the phrase; a multilingual model only after its own check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AI-assisted labels, Commons footage, small test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Intervals shown; Stage II adds human labels and self-shot projects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Crews will not write shot lists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Templates; the interviews check this first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A3 · Stage II order: rules and people first, then the device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662379" y="2331720"/>
            <a:ext cx="8836762" cy="0"/>
          </a:xfrm>
          <a:prstGeom prst="line">
            <a:avLst/>
          </a:prstGeom>
          <a:noFill/>
          <a:ln w="25400">
            <a:solidFill>
              <a:srgbClr val="E8E4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43507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1–2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Rules and labels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More controlled cases; a person labels sampled pairs on the original video; rank runs by peak.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752698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849270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2–3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849270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986430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Missing shots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2986430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Per-shot thresholds with a project-level target; preregister, score once on new footage.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61888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58461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3–5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058461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95621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User study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195621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3–5 interviews, then 8–12 crews: by hand vs SceneGap, counterbalanced; time, misses, wrong reshoots.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171078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267651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4–6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267651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04811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UGen300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404811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G1 on the device; editing-app load with CPU, GPU or UGen300 analysis.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10380269" y="2212848"/>
            <a:ext cx="237744" cy="237744"/>
          </a:xfrm>
          <a:prstGeom prst="ellipse">
            <a:avLst/>
          </a:prstGeom>
          <a:solidFill>
            <a:srgbClr val="22D3E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476842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6+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9476842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614002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Chinese queries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9614002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A multilingual model (SigLIP 2), adopted only if it finds as many dev shots.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A4 · Footage shown in this deck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539572"/>
                <a:gridCol w="5935287"/>
                <a:gridCol w="2787786"/>
                <a:gridCol w="1618715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WIKIMEDIA COMMONS FILE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AUTHOR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LICENCE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Vichy - Grand Café, terrasse sous la grêle.ogv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Romainbehar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007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Café Lomi, Paris - Vimeo.webm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ideafarm films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012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Kaffe - Ystad-2024.ogg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Jonn Leffmann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016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Lions Almelo zamelt koffie in voor Voedselbank.webm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AAVISIE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019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MoliendoCafeEnLicuadora ohs02.webm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PetrohsW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020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Espresso video.ogv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Rosatrieu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3.0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026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Latte art flower - 01.ogv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Anna Frodesiak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032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Sugar falling into coffee.webm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Anselm Schüler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041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Empty Streets of Paris COVID19.webm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CreatorsCloud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Screenshots and cover frames come from these clips. All 44 clips used in the evaluation, with links: docs/CREDITS.md.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A5 · The 11 shots and per-shot results (correct / returned, top 5)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719429"/>
                <a:gridCol w="2338143"/>
                <a:gridCol w="1888500"/>
                <a:gridCol w="1528786"/>
                <a:gridCol w="1079143"/>
                <a:gridCol w="1169072"/>
                <a:gridCol w="989215"/>
                <a:gridCol w="1169072"/>
              </a:tblGrid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 ENGLISH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CLIPS WITH GOLD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SINGLE-FRAME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KEYWORDS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IN PROJECTS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Storefront from the street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3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(36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1/2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Café interior, tables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3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(39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1/4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Coffee-bean close-up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2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(3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Grinding beans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2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(18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1/1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Coffee or latte art poured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3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(48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3/4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Cup of coffee on a table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2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(46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Someone drinking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2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(3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Two people, same frame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2 s, same frame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(56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Espresso extraction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2 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(30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2/3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Bean bag, brand readable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1 s, brand (manual)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(4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Barista, 2 takes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3 s, 2 takes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(74 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5/5 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of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eval/requirements.json, eval/labels/gold.json, eval/results/test_metrics.json. ✓ = a correct clip in the top 5.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A6 · Labels: agreement, third pass and the consistency pass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Agreement between the two AI annotators</a:t>
            </a:r>
            <a:endParaRPr lang="en-US" sz="13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530352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3774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Clip × shot pairs agreeing (IoU ≥ 0.5 or both empty)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472 / 484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 samples (1 fps × 11 shots)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16,687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 positive / A only / B only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808 / 46 / 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Observed agreement / Cohen's κ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99.1% / 0.914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Disputed labels to third pass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217920" y="14630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Consistency pass (added after labelling, before calibration)</a:t>
            </a:r>
            <a:endParaRPr lang="en-US" sz="1300" dirty="0"/>
          </a:p>
        </p:txBody>
      </p:sp>
      <p:graphicFrame>
        <p:nvGraphicFramePr>
          <p:cNvPr id="5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828800"/>
          <a:ext cx="53035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737360"/>
                <a:gridCol w="1188720"/>
                <a:gridCol w="1280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AGREED POSITIVES CHECKED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REMOVED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6217920" y="3931920"/>
            <a:ext cx="5303520" cy="1463040"/>
          </a:xfrm>
          <a:prstGeom prst="roundRect">
            <a:avLst>
              <a:gd name="adj" fmla="val 8750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400800" y="40690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C4CF5"/>
                </a:solidFill>
              </a:rPr>
              <a:t>Rules the third pass wrote (examples)</a:t>
            </a:r>
            <a:endParaRPr lang="en-US" sz="1350" dirty="0"/>
          </a:p>
        </p:txBody>
      </p:sp>
      <p:sp>
        <p:nvSpPr>
          <p:cNvPr id="11" name="Text 7"/>
          <p:cNvSpPr txBox="1"/>
          <p:nvPr/>
        </p:nvSpPr>
        <p:spPr>
          <a:xfrm>
            <a:off x="6400800" y="448056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R3 barista: commercial setting, actively preparing coffee</a:t>
            </a:r>
            <a:endParaRPr lang="en-US" sz="10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R5 anything poured into the cup → SH-05, not SH-06</a:t>
            </a:r>
            <a:endParaRPr lang="en-US" sz="10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R8 grinding: grounds visibly come out of the spout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40080" y="5577840"/>
            <a:ext cx="0" cy="347472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41248" y="553212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8"/>
                </a:solidFill>
              </a:rPr>
              <a:t>Only removals were possible; restoring all 78 leaves SceneGap's numbers unchanged (lenient labels, A7).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eval/labels/agreement.json, consistency.json, adjudication_rules.json.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A7 · Threshold on dev; lenient labels on test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Dev sweep (7,282 frame × shot pairs, 432 positive)</a:t>
            </a:r>
            <a:endParaRPr lang="en-US" sz="13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5760720" cy="914400"/>
        </p:xfrm>
        <a:graphic>
          <a:graphicData uri="http://schemas.openxmlformats.org/drawingml/2006/table">
            <a:tbl>
              <a:tblPr/>
              <a:tblGrid>
                <a:gridCol w="872836"/>
                <a:gridCol w="785553"/>
                <a:gridCol w="872836"/>
                <a:gridCol w="785553"/>
                <a:gridCol w="872836"/>
                <a:gridCol w="785553"/>
                <a:gridCol w="785553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PRECISION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RECALL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2,627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82.4%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0.2085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2,374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12.9%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81.2%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0.215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2,160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13.7%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79.2%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0.2331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1,992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76.6%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0.2403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1,837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71.8%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0.2404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1,671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64.8%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0.2350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1,511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14.8%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60.6%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0.2376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1,370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55.3%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0.2342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1,247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50.5%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0.2298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675120" y="14630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Test, with the 78 removed labels restored</a:t>
            </a:r>
            <a:endParaRPr lang="en-US" sz="1300" dirty="0"/>
          </a:p>
        </p:txBody>
      </p:sp>
      <p:graphicFrame>
        <p:nvGraphicFramePr>
          <p:cNvPr id="5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1828800"/>
          <a:ext cx="48463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188720"/>
                <a:gridCol w="1097280"/>
                <a:gridCol w="10972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METHOD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HIT@5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PRECISION@5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CAUGHT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Title keywords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6/11 (55%)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9/22 (41%)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33/37 (89%)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Single-frame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8/11 (73%)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22/55 (40%)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0/37 (0%)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7/11 (64%)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18/55 (33%)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0/37 (0%)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6675120" y="3840480"/>
            <a:ext cx="4846320" cy="1645920"/>
          </a:xfrm>
          <a:prstGeom prst="roundRect">
            <a:avLst>
              <a:gd name="adj" fmla="val 7778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0" y="3977640"/>
            <a:ext cx="4480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F1 is flat between 0.220 and 0.225; τ 0.225 chosen by the rule written before labels (ties go higher).</a:t>
            </a:r>
            <a:endParaRPr lang="en-US" sz="10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Precision stays at 12–15% across the range: no single threshold separates shots well frame by frame.</a:t>
            </a:r>
            <a:endParaRPr lang="en-US" sz="10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74151"/>
                </a:solidFill>
              </a:rPr>
              <a:t>Centre crop beat padding by 0.0035 F1 (center-crop 0.2404, pad-square 0.2369).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eval/results/calibration.json, test_metrics.json (sensitivity_lenient_gold).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A8 · Missing-shot trade-off on dev (not used to rescore)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2338143"/>
                <a:gridCol w="1438858"/>
                <a:gridCol w="2338143"/>
                <a:gridCol w="2338143"/>
                <a:gridCol w="2428072"/>
              </a:tblGrid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SETTING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CAUGHT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WRONG RESHOOT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'FOUND' WHEN ABSENT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cosine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0.225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5/89 (6%)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0/131 (0%)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80/89 (90%)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cosine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13/89 (15%)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7/131 (5%)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71/89 (80%)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cosine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24/89 (27%)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14/131 (11%)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65/89 (73%)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cosine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0.285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32/89 (36%)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22/131 (17%)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49/89 (55%)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cosine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41/89 (46%)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40/131 (31%)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37/89 (42%)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raw cosine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τ 0.3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46/89 (52%)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62/131 (47%)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37/89 (42%)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 over generic prompts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6/89 (7%)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0/131 (0%)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76/89 (85%)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 over generic prompts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11/89 (12%)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0/131 (0%)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70/89 (79%)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 over generic prompts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16/89 (18%)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7/131 (5%)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66/89 (74%)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 over generic prompts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29/89 (33%)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14/131 (11%)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51/89 (57%)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 over generic prompts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30/89 (34%)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14/131 (11%)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51/89 (57%)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eval/results/explore_dev_gap_tradeoff.json: 20 dev projects × 8 clips. Margin = similarity minus the best of 6 generic prompts.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A9 · Acceptance cases: 30 of 36 pass by automated check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1978429"/>
                <a:gridCol w="899286"/>
                <a:gridCol w="800364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COUNT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CASES (TC-)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001, 002, 003, 004, 005, 006, 007, 008, 009, 010, 011, 012, 013, 014, 016, 019, 020, 021, 022, 023, 024, 025, 026, 027, 028, 029, 030, 031, 035, 036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applicable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proxy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check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48 automated tests; TC-035 is the clean rebuild from the public package index.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eval/results/ACCEPTANCE.md (each case with the test that covers it), clean_env.json.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A10 · Hailo-10H model zoo: options for the device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2877715"/>
                <a:gridCol w="2877715"/>
                <a:gridCol w="1618715"/>
                <a:gridCol w="3507215"/>
              </a:tblGrid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 (HEF)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ACCURACY, FLOAT → ON CHIP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FPS BATCH 1 / 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clip_vit_b_32_image_encoder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CIFAR-100 zero-shot 65.3 → 64.5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81.5 / 350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planned: same OpenAI weights as the PC model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clip_vit_b_32_text_encoder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Retrieval@10 90.6 → 89.3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48.9 / 98.8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planned: text stays on the PC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tinyclip_vit_61m_32 image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72.8 → 69.8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 / 388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fallback if G1 fails (new threshold)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siglip2_b_32_256 image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74.7 → 70.4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64.7 / 221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multilingual option for Chinese shot lists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clip_vit_b_16 image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68.6 → 64.6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51.5 / 158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finer detail, slower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Qwen2-VL-2B-Instruct (VLM)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listed for Hailo-10H (GenAI zoo)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see vendor page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planned: the missing-shot verifier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At batch 8 the vendor figure (350 FPS) is close to the RTX 4080 we measured (365 frames/s); the device's case is freeing the host, not raw speed.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Hailo Model Zoo, Hailo-10H, PCIe Gen3 ×4 host (not USB); docs/MODEL_PLAN.md §2.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A11 · Market and price sources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3057572"/>
                <a:gridCol w="2967644"/>
                <a:gridCol w="3237429"/>
                <a:gridCol w="1618715"/>
              </a:tblGrid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 film and video editors / camera operators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39,400 / 32,600 (2025); 35% self-employed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 BLS OOH, accessed 2026-10-26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pay, editors / camera operators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$75,420 / $74,990 (May 2025)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 BLS OOH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rate, mid-level videographer (US)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$800–1,500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Film Lifestyle rate guide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 (estimate)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Event video, full day (Taiwan)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NT$12,000–28,000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PRO360 quote statistics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 (estimate)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UGen300 USB 8 GB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$299.99 (M.2 $259.99)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CNX Software; ASUS spec page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Premiere Pro single app / Jumper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$22.99/mo / from $49/mo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Adobe checkout excerpt / Jumper site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/ partial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Resolve Studio / Final Cut Pro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$295 / $299.99 one-time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Blackmagic / Apple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Frame.io Pro / Team; Creator Studio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 / $25 per member per month; $129/yr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Frame.io / Apple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Axle AI FOCUS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$2,995–28,995 per year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trade press (IBC 2026)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Creators worldwide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~50M, ~4% professional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Goldman Sachs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docs/research/BUSINESS_FACTS.md (URLs, access dates and verified flags for every row).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A12 · Engineering: 48 tests; 30 of 36 acceptance cases pass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716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</a:rPr>
              <a:t>These show the software is reliable, not that the AI is accurate. Other 6: 1 not applicable, 1 not run, 1 partial, 1 measured, 1 proxy, 1 manual check (needs a UGen300, a detector, or users).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611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340864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0020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Media edge cases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96112" y="292608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Rotation, 29.97 fps, VFR, start offsets, corrupt and unsupported codecs, files still copying, moved files found again by hash.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343400" y="196596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9943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8304" y="2340864"/>
            <a:ext cx="329184" cy="32918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30352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Logic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4599432" y="292608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'Can't tell' stays 'can't tell'; two short clips never count as one long one; duplicates are not two takes; editing a shot voids old decisions.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046720" y="196596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30275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1624" y="2340864"/>
            <a:ext cx="329184" cy="32918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900684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Security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8302752" y="292608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127.0.0.1 only, per-run token, Origin + Host checks, authorised folders, CSV formula guard, escaped HTML, errors never expose internals.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640080" y="404622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896112" y="430225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421124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00200" y="430225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Offline</a:t>
            </a:r>
            <a:endParaRPr lang="en-US" sz="1600" dirty="0"/>
          </a:p>
        </p:txBody>
      </p:sp>
      <p:sp>
        <p:nvSpPr>
          <p:cNvPr id="25" name="Text 19"/>
          <p:cNvSpPr txBox="1"/>
          <p:nvPr/>
        </p:nvSpPr>
        <p:spPr>
          <a:xfrm>
            <a:off x="896112" y="500634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Core flow tested with outbound sockets blocked. Footage never leaves the computer.</a:t>
            </a:r>
            <a:endParaRPr lang="en-US" sz="1250" dirty="0"/>
          </a:p>
        </p:txBody>
      </p:sp>
      <p:sp>
        <p:nvSpPr>
          <p:cNvPr id="26" name="Shape 20"/>
          <p:cNvSpPr/>
          <p:nvPr/>
        </p:nvSpPr>
        <p:spPr>
          <a:xfrm>
            <a:off x="4343400" y="404622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4599432" y="430225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8304" y="4421124"/>
            <a:ext cx="329184" cy="329184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5303520" y="430225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Failure</a:t>
            </a:r>
            <a:endParaRPr lang="en-US" sz="1600" dirty="0"/>
          </a:p>
        </p:txBody>
      </p:sp>
      <p:sp>
        <p:nvSpPr>
          <p:cNvPr id="30" name="Text 23"/>
          <p:cNvSpPr txBox="1"/>
          <p:nvPr/>
        </p:nvSpPr>
        <p:spPr>
          <a:xfrm>
            <a:off x="4599432" y="500634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Disk full stops safely and resumes; interrupted jobs resume; originals' hashes unchanged.</a:t>
            </a:r>
            <a:endParaRPr lang="en-US" sz="1250" dirty="0"/>
          </a:p>
        </p:txBody>
      </p:sp>
      <p:sp>
        <p:nvSpPr>
          <p:cNvPr id="31" name="Shape 24"/>
          <p:cNvSpPr/>
          <p:nvPr/>
        </p:nvSpPr>
        <p:spPr>
          <a:xfrm>
            <a:off x="8046720" y="404622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8302752" y="430225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21624" y="4421124"/>
            <a:ext cx="329184" cy="329184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9006840" y="430225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Rebuild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8302752" y="500634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A fresh venv from the public index passes the test suite; Dockerfile and CI included; Apache-2.0.</a:t>
            </a:r>
            <a:endParaRPr lang="en-US" sz="1250" dirty="0"/>
          </a:p>
        </p:txBody>
      </p:sp>
      <p:sp>
        <p:nvSpPr>
          <p:cNvPr id="36" name="Text 28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eval/results/ACCEPTANCE.md lists all 36 cases with the test that covers each (A9).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ceneGap Edge · Stage I">
  <a:themeElements>
    <a:clrScheme name="SceneGap Edge · Stage I">
      <a:dk1>
        <a:srgbClr val="111118"/>
      </a:dk1>
      <a:lt1>
        <a:srgbClr val="FFFFFF"/>
      </a:lt1>
      <a:dk2>
        <a:srgbClr val="0B0B12"/>
      </a:dk2>
      <a:lt2>
        <a:srgbClr val="F3F1FF"/>
      </a:lt2>
      <a:accent1>
        <a:srgbClr val="6C4CF5"/>
      </a:accent1>
      <a:accent2>
        <a:srgbClr val="22D3EE"/>
      </a:accent2>
      <a:accent3>
        <a:srgbClr val="8B78FF"/>
      </a:accent3>
      <a:accent4>
        <a:srgbClr val="A78BFA"/>
      </a:accent4>
      <a:accent5>
        <a:srgbClr val="0EA5E9"/>
      </a:accent5>
      <a:accent6>
        <a:srgbClr val="6B7280"/>
      </a:accent6>
      <a:hlink>
        <a:srgbClr val="6C4CF5"/>
      </a:hlink>
      <a:folHlink>
        <a:srgbClr val="8B78FF"/>
      </a:folHlink>
    </a:clrScheme>
    <a:fontScheme name="SceneGap Edge · Stage I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SceneGap Edge – Stage I proposal</dc:title>
  <dc:subject>PptxGenJS Presentation</dc:subject>
  <dc:creator>[Team name]</dc:creator>
  <cp:lastModifiedBy>[Team name]</cp:lastModifiedBy>
  <cp:revision>1</cp:revision>
  <dcterms:created xsi:type="dcterms:W3CDTF">2026-10-27T14:06:29Z</dcterms:created>
  <dcterms:modified xsi:type="dcterms:W3CDTF">2026-10-27T14:06:29Z</dcterms:modified>
</cp:coreProperties>
</file>